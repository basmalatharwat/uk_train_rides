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56" r:id="rId2"/>
    <p:sldId id="267" r:id="rId3"/>
    <p:sldId id="258" r:id="rId4"/>
    <p:sldId id="259" r:id="rId5"/>
    <p:sldId id="257" r:id="rId6"/>
    <p:sldId id="286" r:id="rId7"/>
    <p:sldId id="268" r:id="rId8"/>
    <p:sldId id="287" r:id="rId9"/>
    <p:sldId id="269" r:id="rId10"/>
    <p:sldId id="270" r:id="rId11"/>
    <p:sldId id="271" r:id="rId12"/>
    <p:sldId id="272" r:id="rId13"/>
    <p:sldId id="273" r:id="rId14"/>
    <p:sldId id="275" r:id="rId15"/>
    <p:sldId id="276" r:id="rId16"/>
    <p:sldId id="277" r:id="rId17"/>
    <p:sldId id="278" r:id="rId18"/>
    <p:sldId id="279" r:id="rId19"/>
    <p:sldId id="280" r:id="rId20"/>
    <p:sldId id="281" r:id="rId21"/>
    <p:sldId id="282" r:id="rId22"/>
    <p:sldId id="283" r:id="rId23"/>
    <p:sldId id="284" r:id="rId24"/>
    <p:sldId id="288" r:id="rId25"/>
    <p:sldId id="261" r:id="rId26"/>
    <p:sldId id="285" r:id="rId27"/>
  </p:sldIdLst>
  <p:sldSz cx="18288000" cy="10287000"/>
  <p:notesSz cx="6858000" cy="9144000"/>
  <p:embeddedFontLst>
    <p:embeddedFont>
      <p:font typeface="Cormorant Garamond Bold Italics" panose="020B0604020202020204" charset="0"/>
      <p:regular r:id="rId29"/>
    </p:embeddedFont>
    <p:embeddedFont>
      <p:font typeface="Quicksan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80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507D4-B473-4FED-BC6D-D6A030CBE308}" type="datetimeFigureOut">
              <a:rPr lang="en-US" smtClean="0"/>
              <a:t>5/16/2025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8156F1-5B89-44CE-88AE-3FDA84F544DE}" type="slidenum">
              <a:rPr lang="en-US" smtClean="0"/>
              <a:t>‹#›</a:t>
            </a:fld>
            <a:endParaRPr lang="en-US"/>
          </a:p>
        </p:txBody>
      </p:sp>
    </p:spTree>
    <p:extLst>
      <p:ext uri="{BB962C8B-B14F-4D97-AF65-F5344CB8AC3E}">
        <p14:creationId xmlns:p14="http://schemas.microsoft.com/office/powerpoint/2010/main" val="4113320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8156F1-5B89-44CE-88AE-3FDA84F544DE}" type="slidenum">
              <a:rPr lang="en-US" smtClean="0"/>
              <a:t>5</a:t>
            </a:fld>
            <a:endParaRPr lang="en-US"/>
          </a:p>
        </p:txBody>
      </p:sp>
    </p:spTree>
    <p:extLst>
      <p:ext uri="{BB962C8B-B14F-4D97-AF65-F5344CB8AC3E}">
        <p14:creationId xmlns:p14="http://schemas.microsoft.com/office/powerpoint/2010/main" val="3006625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5B20A-9C3D-75BF-31D8-700A06922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1DD2C-0BFF-E756-EEBE-F0E6841F2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E858C-D85A-49FE-1F0E-D89A8DBD3C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FEF24-D209-2084-6C08-B139DCF39BB8}"/>
              </a:ext>
            </a:extLst>
          </p:cNvPr>
          <p:cNvSpPr>
            <a:spLocks noGrp="1"/>
          </p:cNvSpPr>
          <p:nvPr>
            <p:ph type="sldNum" sz="quarter" idx="5"/>
          </p:nvPr>
        </p:nvSpPr>
        <p:spPr/>
        <p:txBody>
          <a:bodyPr/>
          <a:lstStyle/>
          <a:p>
            <a:fld id="{1D8156F1-5B89-44CE-88AE-3FDA84F544DE}" type="slidenum">
              <a:rPr lang="en-US" smtClean="0"/>
              <a:t>6</a:t>
            </a:fld>
            <a:endParaRPr lang="en-US"/>
          </a:p>
        </p:txBody>
      </p:sp>
    </p:spTree>
    <p:extLst>
      <p:ext uri="{BB962C8B-B14F-4D97-AF65-F5344CB8AC3E}">
        <p14:creationId xmlns:p14="http://schemas.microsoft.com/office/powerpoint/2010/main" val="1207842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2DD0B-71BB-16C5-39A5-440B62D9F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24093-AA30-37FC-D281-EAA03C4AFA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7BB72-6BEA-EE78-3CD0-17EA7B4AAA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A39839-BEA5-C86B-9A72-2D952DB29D81}"/>
              </a:ext>
            </a:extLst>
          </p:cNvPr>
          <p:cNvSpPr>
            <a:spLocks noGrp="1"/>
          </p:cNvSpPr>
          <p:nvPr>
            <p:ph type="sldNum" sz="quarter" idx="5"/>
          </p:nvPr>
        </p:nvSpPr>
        <p:spPr/>
        <p:txBody>
          <a:bodyPr/>
          <a:lstStyle/>
          <a:p>
            <a:fld id="{1D8156F1-5B89-44CE-88AE-3FDA84F544DE}" type="slidenum">
              <a:rPr lang="en-US" smtClean="0"/>
              <a:t>9</a:t>
            </a:fld>
            <a:endParaRPr lang="en-US"/>
          </a:p>
        </p:txBody>
      </p:sp>
    </p:spTree>
    <p:extLst>
      <p:ext uri="{BB962C8B-B14F-4D97-AF65-F5344CB8AC3E}">
        <p14:creationId xmlns:p14="http://schemas.microsoft.com/office/powerpoint/2010/main" val="819094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A358-A43A-A312-F789-F124C805CD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2DBD7-DCF7-483D-1E8B-CD468F585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73FC5-81BC-6DCF-543A-43AA00FD6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8FF0A1-B503-C606-8862-362E2E1620EE}"/>
              </a:ext>
            </a:extLst>
          </p:cNvPr>
          <p:cNvSpPr>
            <a:spLocks noGrp="1"/>
          </p:cNvSpPr>
          <p:nvPr>
            <p:ph type="sldNum" sz="quarter" idx="5"/>
          </p:nvPr>
        </p:nvSpPr>
        <p:spPr/>
        <p:txBody>
          <a:bodyPr/>
          <a:lstStyle/>
          <a:p>
            <a:fld id="{1D8156F1-5B89-44CE-88AE-3FDA84F544DE}" type="slidenum">
              <a:rPr lang="en-US" smtClean="0"/>
              <a:t>20</a:t>
            </a:fld>
            <a:endParaRPr lang="en-US"/>
          </a:p>
        </p:txBody>
      </p:sp>
    </p:spTree>
    <p:extLst>
      <p:ext uri="{BB962C8B-B14F-4D97-AF65-F5344CB8AC3E}">
        <p14:creationId xmlns:p14="http://schemas.microsoft.com/office/powerpoint/2010/main" val="66277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C13C-BC55-2B9B-B048-207A63480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B7A03-10E2-AEDF-63BB-260B12A69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1E66A-9BCF-CCAC-491D-32220FAFEC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FDCF8D-A536-B873-A134-38D2F6AC6435}"/>
              </a:ext>
            </a:extLst>
          </p:cNvPr>
          <p:cNvSpPr>
            <a:spLocks noGrp="1"/>
          </p:cNvSpPr>
          <p:nvPr>
            <p:ph type="sldNum" sz="quarter" idx="5"/>
          </p:nvPr>
        </p:nvSpPr>
        <p:spPr/>
        <p:txBody>
          <a:bodyPr/>
          <a:lstStyle/>
          <a:p>
            <a:fld id="{1D8156F1-5B89-44CE-88AE-3FDA84F544DE}" type="slidenum">
              <a:rPr lang="en-US" smtClean="0"/>
              <a:t>23</a:t>
            </a:fld>
            <a:endParaRPr lang="en-US"/>
          </a:p>
        </p:txBody>
      </p:sp>
    </p:spTree>
    <p:extLst>
      <p:ext uri="{BB962C8B-B14F-4D97-AF65-F5344CB8AC3E}">
        <p14:creationId xmlns:p14="http://schemas.microsoft.com/office/powerpoint/2010/main" val="4134735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FE9F6-E4D8-AA66-BF7D-0BE46AB53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1D198-6B4E-D264-EDEC-06BAE597B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7CD6A-B091-035F-6C0A-D52C0CB05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DAE9E-EE0B-14A9-53C7-040CE330E8E5}"/>
              </a:ext>
            </a:extLst>
          </p:cNvPr>
          <p:cNvSpPr>
            <a:spLocks noGrp="1"/>
          </p:cNvSpPr>
          <p:nvPr>
            <p:ph type="sldNum" sz="quarter" idx="5"/>
          </p:nvPr>
        </p:nvSpPr>
        <p:spPr/>
        <p:txBody>
          <a:bodyPr/>
          <a:lstStyle/>
          <a:p>
            <a:fld id="{1D8156F1-5B89-44CE-88AE-3FDA84F544DE}" type="slidenum">
              <a:rPr lang="en-US" smtClean="0"/>
              <a:t>24</a:t>
            </a:fld>
            <a:endParaRPr lang="en-US"/>
          </a:p>
        </p:txBody>
      </p:sp>
    </p:spTree>
    <p:extLst>
      <p:ext uri="{BB962C8B-B14F-4D97-AF65-F5344CB8AC3E}">
        <p14:creationId xmlns:p14="http://schemas.microsoft.com/office/powerpoint/2010/main" val="2917777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43764" y="2478342"/>
            <a:ext cx="16229942" cy="2938305"/>
          </a:xfrm>
          <a:prstGeom prst="rect">
            <a:avLst/>
          </a:prstGeom>
        </p:spPr>
        <p:txBody>
          <a:bodyPr lIns="0" tIns="0" rIns="0" bIns="0" rtlCol="0" anchor="t">
            <a:spAutoFit/>
          </a:bodyPr>
          <a:lstStyle/>
          <a:p>
            <a:pPr marL="0" lvl="0" indent="0" algn="ctr">
              <a:lnSpc>
                <a:spcPts val="26009"/>
              </a:lnSpc>
              <a:spcBef>
                <a:spcPct val="0"/>
              </a:spcBef>
            </a:pPr>
            <a:r>
              <a:rPr lang="en-US" sz="12000" b="1" i="1" dirty="0">
                <a:solidFill>
                  <a:srgbClr val="0F4662"/>
                </a:solidFill>
                <a:latin typeface="Cormorant Garamond Bold Italics"/>
                <a:ea typeface="Cormorant Garamond Bold Italics"/>
                <a:cs typeface="Cormorant Garamond Bold Italics"/>
                <a:sym typeface="Cormorant Garamond Bold Italics"/>
              </a:rPr>
              <a:t>UK TRAIN RIDES</a:t>
            </a: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AutoShape 4"/>
          <p:cNvSpPr/>
          <p:nvPr/>
        </p:nvSpPr>
        <p:spPr>
          <a:xfrm>
            <a:off x="1043764" y="92964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5" name="Freeform 5"/>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42709" y="2617067"/>
            <a:ext cx="11402580" cy="1116652"/>
          </a:xfrm>
          <a:prstGeom prst="rect">
            <a:avLst/>
          </a:prstGeom>
        </p:spPr>
        <p:txBody>
          <a:bodyPr lIns="0" tIns="0" rIns="0" bIns="0" rtlCol="0" anchor="t">
            <a:spAutoFit/>
          </a:bodyPr>
          <a:lstStyle/>
          <a:p>
            <a:pPr algn="ctr">
              <a:lnSpc>
                <a:spcPts val="8968"/>
              </a:lnSpc>
            </a:pPr>
            <a:r>
              <a:rPr lang="en-US" sz="7000" b="1" i="1" dirty="0">
                <a:solidFill>
                  <a:srgbClr val="0F4662"/>
                </a:solidFill>
                <a:latin typeface="Times New Roman" panose="02020603050405020304" pitchFamily="18" charset="0"/>
                <a:cs typeface="Times New Roman" panose="02020603050405020304" pitchFamily="18" charset="0"/>
                <a:sym typeface="Bold Ink"/>
              </a:rPr>
              <a:t>TEAM</a:t>
            </a:r>
            <a:r>
              <a:rPr lang="en-US" sz="7000" dirty="0">
                <a:solidFill>
                  <a:srgbClr val="545454"/>
                </a:solidFill>
                <a:latin typeface="Times New Roman" panose="02020603050405020304" pitchFamily="18" charset="0"/>
                <a:ea typeface="Bold Ink"/>
                <a:cs typeface="Times New Roman" panose="02020603050405020304" pitchFamily="18" charset="0"/>
                <a:sym typeface="Bold Ink"/>
              </a:rPr>
              <a:t> </a:t>
            </a:r>
            <a:r>
              <a:rPr lang="en-US" sz="7000" b="1" i="1" dirty="0">
                <a:solidFill>
                  <a:srgbClr val="0F4662"/>
                </a:solidFill>
                <a:latin typeface="Times New Roman" panose="02020603050405020304" pitchFamily="18" charset="0"/>
                <a:cs typeface="Times New Roman" panose="02020603050405020304" pitchFamily="18" charset="0"/>
                <a:sym typeface="Bold Ink"/>
              </a:rPr>
              <a:t>PROJECT</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2">
            <a:extLst>
              <a:ext uri="{FF2B5EF4-FFF2-40B4-BE49-F238E27FC236}">
                <a16:creationId xmlns:a16="http://schemas.microsoft.com/office/drawing/2014/main" id="{94270A71-FBFC-87CD-6899-B6887D7BC42F}"/>
              </a:ext>
            </a:extLst>
          </p:cNvPr>
          <p:cNvSpPr txBox="1"/>
          <p:nvPr/>
        </p:nvSpPr>
        <p:spPr>
          <a:xfrm>
            <a:off x="2057400" y="3651284"/>
            <a:ext cx="11402580" cy="985847"/>
          </a:xfrm>
          <a:prstGeom prst="rect">
            <a:avLst/>
          </a:prstGeom>
        </p:spPr>
        <p:txBody>
          <a:bodyPr lIns="0" tIns="0" rIns="0" bIns="0" rtlCol="0" anchor="t">
            <a:spAutoFit/>
          </a:bodyPr>
          <a:lstStyle/>
          <a:p>
            <a:pPr algn="ctr">
              <a:lnSpc>
                <a:spcPts val="8968"/>
              </a:lnSpc>
            </a:pPr>
            <a:r>
              <a:rPr lang="en-US" sz="4000" b="1" i="1" dirty="0">
                <a:solidFill>
                  <a:srgbClr val="0F4662"/>
                </a:solidFill>
                <a:latin typeface="Times New Roman" panose="02020603050405020304" pitchFamily="18" charset="0"/>
                <a:cs typeface="Times New Roman" panose="02020603050405020304" pitchFamily="18" charset="0"/>
                <a:sym typeface="Bold Ink"/>
              </a:rPr>
              <a:t>1-Basmala Tharwat</a:t>
            </a:r>
          </a:p>
        </p:txBody>
      </p:sp>
      <p:sp>
        <p:nvSpPr>
          <p:cNvPr id="8" name="TextBox 2">
            <a:extLst>
              <a:ext uri="{FF2B5EF4-FFF2-40B4-BE49-F238E27FC236}">
                <a16:creationId xmlns:a16="http://schemas.microsoft.com/office/drawing/2014/main" id="{233DD64E-5BC3-F028-40E8-B254F73169E3}"/>
              </a:ext>
            </a:extLst>
          </p:cNvPr>
          <p:cNvSpPr txBox="1"/>
          <p:nvPr/>
        </p:nvSpPr>
        <p:spPr>
          <a:xfrm>
            <a:off x="1524000" y="4553253"/>
            <a:ext cx="11402580" cy="1009059"/>
          </a:xfrm>
          <a:prstGeom prst="rect">
            <a:avLst/>
          </a:prstGeom>
        </p:spPr>
        <p:txBody>
          <a:bodyPr lIns="0" tIns="0" rIns="0" bIns="0" rtlCol="0" anchor="t">
            <a:spAutoFit/>
          </a:bodyPr>
          <a:lstStyle/>
          <a:p>
            <a:pPr algn="ctr">
              <a:lnSpc>
                <a:spcPts val="8968"/>
              </a:lnSpc>
            </a:pPr>
            <a:r>
              <a:rPr lang="en-US" sz="4000" b="1" i="1" dirty="0">
                <a:solidFill>
                  <a:srgbClr val="0F4662"/>
                </a:solidFill>
                <a:latin typeface="Times New Roman" panose="02020603050405020304" pitchFamily="18" charset="0"/>
                <a:cs typeface="Times New Roman" panose="02020603050405020304" pitchFamily="18" charset="0"/>
                <a:sym typeface="Bold Ink"/>
              </a:rPr>
              <a:t>2-Judy Ibrahim</a:t>
            </a:r>
          </a:p>
        </p:txBody>
      </p:sp>
      <p:sp>
        <p:nvSpPr>
          <p:cNvPr id="9" name="TextBox 2">
            <a:extLst>
              <a:ext uri="{FF2B5EF4-FFF2-40B4-BE49-F238E27FC236}">
                <a16:creationId xmlns:a16="http://schemas.microsoft.com/office/drawing/2014/main" id="{05E65F78-8A27-CFCA-A5D0-FF99106278EA}"/>
              </a:ext>
            </a:extLst>
          </p:cNvPr>
          <p:cNvSpPr txBox="1"/>
          <p:nvPr/>
        </p:nvSpPr>
        <p:spPr>
          <a:xfrm>
            <a:off x="1219200" y="5462687"/>
            <a:ext cx="11402580" cy="1009059"/>
          </a:xfrm>
          <a:prstGeom prst="rect">
            <a:avLst/>
          </a:prstGeom>
        </p:spPr>
        <p:txBody>
          <a:bodyPr lIns="0" tIns="0" rIns="0" bIns="0" rtlCol="0" anchor="t">
            <a:spAutoFit/>
          </a:bodyPr>
          <a:lstStyle/>
          <a:p>
            <a:pPr algn="ctr">
              <a:lnSpc>
                <a:spcPts val="8968"/>
              </a:lnSpc>
            </a:pPr>
            <a:r>
              <a:rPr lang="en-US" sz="4000" b="1" i="1" dirty="0">
                <a:solidFill>
                  <a:srgbClr val="0F4662"/>
                </a:solidFill>
                <a:latin typeface="Times New Roman" panose="02020603050405020304" pitchFamily="18" charset="0"/>
                <a:cs typeface="Times New Roman" panose="02020603050405020304" pitchFamily="18" charset="0"/>
                <a:sym typeface="Bold Ink"/>
              </a:rPr>
              <a:t>3-Alaa Hosny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63753" y="4112417"/>
            <a:ext cx="9960491" cy="3132652"/>
          </a:xfrm>
          <a:prstGeom prst="rect">
            <a:avLst/>
          </a:prstGeom>
        </p:spPr>
        <p:txBody>
          <a:bodyPr lIns="0" tIns="0" rIns="0" bIns="0" rtlCol="0" anchor="t">
            <a:spAutoFit/>
          </a:bodyPr>
          <a:lstStyle/>
          <a:p>
            <a:pPr marL="0" lvl="0" indent="0" algn="ctr">
              <a:lnSpc>
                <a:spcPts val="4079"/>
              </a:lnSpc>
            </a:pPr>
            <a:r>
              <a:rPr lang="en-US" sz="3000" b="1" i="1" dirty="0">
                <a:solidFill>
                  <a:srgbClr val="0F4662"/>
                </a:solidFill>
                <a:sym typeface="Quicksand"/>
              </a:rPr>
              <a:t>Our project aims to </a:t>
            </a:r>
            <a:r>
              <a:rPr lang="en-US" sz="3000" b="1" i="1" dirty="0">
                <a:solidFill>
                  <a:srgbClr val="0F4662"/>
                </a:solidFill>
              </a:rPr>
              <a:t>analyze train journey data across the UK to uncover key insights related to passenger behavior, ticketing trends, journey performance, and customer service issues such as delays and refund requests. The analysis aims to support data-driven improvements in rail service efficiency, pricing strategies, and overall customer satisfaction.</a:t>
            </a:r>
            <a:endParaRPr lang="en-US" sz="3000" b="1" i="1" dirty="0">
              <a:solidFill>
                <a:srgbClr val="0F4662"/>
              </a:solidFill>
              <a:sym typeface="Quicksand"/>
            </a:endParaRPr>
          </a:p>
        </p:txBody>
      </p:sp>
      <p:sp>
        <p:nvSpPr>
          <p:cNvPr id="3" name="AutoShape 3"/>
          <p:cNvSpPr/>
          <p:nvPr/>
        </p:nvSpPr>
        <p:spPr>
          <a:xfrm>
            <a:off x="5897880" y="3568974"/>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AutoShape 4"/>
          <p:cNvSpPr/>
          <p:nvPr/>
        </p:nvSpPr>
        <p:spPr>
          <a:xfrm>
            <a:off x="5897880" y="773430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5" name="Freeform 5"/>
          <p:cNvSpPr/>
          <p:nvPr/>
        </p:nvSpPr>
        <p:spPr>
          <a:xfrm>
            <a:off x="8304001" y="2470557"/>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028700" y="599709"/>
            <a:ext cx="8048163" cy="1099019"/>
          </a:xfrm>
          <a:prstGeom prst="rect">
            <a:avLst/>
          </a:prstGeom>
        </p:spPr>
        <p:txBody>
          <a:bodyPr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Project Objective</a:t>
            </a:r>
          </a:p>
        </p:txBody>
      </p:sp>
      <p:sp>
        <p:nvSpPr>
          <p:cNvPr id="7" name="Freeform 7"/>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a:off x="870190" y="9182100"/>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873065" y="2397914"/>
            <a:ext cx="4686300" cy="5539978"/>
          </a:xfrm>
          <a:prstGeom prst="rect">
            <a:avLst/>
          </a:prstGeom>
        </p:spPr>
        <p:txBody>
          <a:bodyPr wrap="square" lIns="0" tIns="0" rIns="0" bIns="0" rtlCol="0" anchor="t">
            <a:spAutoFit/>
          </a:bodyPr>
          <a:lstStyle/>
          <a:p>
            <a:pPr algn="l">
              <a:buFont typeface="Arial" panose="020B0604020202020204" pitchFamily="34" charset="0"/>
              <a:buChar char="•"/>
            </a:pPr>
            <a:r>
              <a:rPr lang="en-US" sz="3000" b="1" i="1" dirty="0">
                <a:solidFill>
                  <a:srgbClr val="0F4662"/>
                </a:solidFill>
                <a:cs typeface="Times New Roman" panose="02020603050405020304" pitchFamily="18" charset="0"/>
              </a:rPr>
              <a:t>Transaction Details: </a:t>
            </a:r>
            <a:r>
              <a:rPr lang="en-US" sz="3000" i="1" dirty="0">
                <a:solidFill>
                  <a:srgbClr val="0F4662"/>
                </a:solidFill>
                <a:cs typeface="Times New Roman" panose="02020603050405020304" pitchFamily="18" charset="0"/>
              </a:rPr>
              <a:t>ID, Purchase Date &amp; Time, Payment Method, Purchase Type</a:t>
            </a:r>
          </a:p>
          <a:p>
            <a:pPr algn="l">
              <a:buFont typeface="Arial" panose="020B0604020202020204" pitchFamily="34" charset="0"/>
              <a:buChar char="•"/>
            </a:pPr>
            <a:r>
              <a:rPr lang="en-US" sz="3000" b="1" i="1" dirty="0">
                <a:solidFill>
                  <a:srgbClr val="0F4662"/>
                </a:solidFill>
                <a:cs typeface="Times New Roman" panose="02020603050405020304" pitchFamily="18" charset="0"/>
              </a:rPr>
              <a:t>Ticket Info: </a:t>
            </a:r>
            <a:r>
              <a:rPr lang="en-US" sz="3000" i="1" dirty="0">
                <a:solidFill>
                  <a:srgbClr val="0F4662"/>
                </a:solidFill>
                <a:cs typeface="Times New Roman" panose="02020603050405020304" pitchFamily="18" charset="0"/>
              </a:rPr>
              <a:t>Class, Type, Price, </a:t>
            </a:r>
            <a:r>
              <a:rPr lang="en-US" sz="3000" i="1" dirty="0" err="1">
                <a:solidFill>
                  <a:srgbClr val="0F4662"/>
                </a:solidFill>
                <a:cs typeface="Times New Roman" panose="02020603050405020304" pitchFamily="18" charset="0"/>
              </a:rPr>
              <a:t>Railcard</a:t>
            </a:r>
            <a:r>
              <a:rPr lang="en-US" sz="3000" i="1" dirty="0">
                <a:solidFill>
                  <a:srgbClr val="0F4662"/>
                </a:solidFill>
                <a:cs typeface="Times New Roman" panose="02020603050405020304" pitchFamily="18" charset="0"/>
              </a:rPr>
              <a:t>.</a:t>
            </a:r>
          </a:p>
          <a:p>
            <a:pPr algn="l">
              <a:buFont typeface="Arial" panose="020B0604020202020204" pitchFamily="34" charset="0"/>
              <a:buChar char="•"/>
            </a:pPr>
            <a:r>
              <a:rPr lang="en-US" sz="3000" b="1" i="1" dirty="0">
                <a:solidFill>
                  <a:srgbClr val="0F4662"/>
                </a:solidFill>
                <a:cs typeface="Times New Roman" panose="02020603050405020304" pitchFamily="18" charset="0"/>
              </a:rPr>
              <a:t>Journey Data: </a:t>
            </a:r>
            <a:r>
              <a:rPr lang="en-US" sz="3000" i="1" dirty="0">
                <a:solidFill>
                  <a:srgbClr val="0F4662"/>
                </a:solidFill>
                <a:cs typeface="Times New Roman" panose="02020603050405020304" pitchFamily="18" charset="0"/>
              </a:rPr>
              <a:t>Departure/Arrival Stations, Date of Journey, Departure /Arrival Time, Journey Status, </a:t>
            </a:r>
          </a:p>
          <a:p>
            <a:pPr algn="l">
              <a:buFont typeface="Arial" panose="020B0604020202020204" pitchFamily="34" charset="0"/>
              <a:buChar char="•"/>
            </a:pPr>
            <a:r>
              <a:rPr lang="en-US" sz="3000" b="1" i="1" dirty="0">
                <a:solidFill>
                  <a:srgbClr val="0F4662"/>
                </a:solidFill>
                <a:cs typeface="Times New Roman" panose="02020603050405020304" pitchFamily="18" charset="0"/>
              </a:rPr>
              <a:t>Customer Service: </a:t>
            </a:r>
            <a:r>
              <a:rPr lang="en-US" sz="3000" i="1" dirty="0">
                <a:solidFill>
                  <a:srgbClr val="0F4662"/>
                </a:solidFill>
                <a:cs typeface="Times New Roman" panose="02020603050405020304" pitchFamily="18" charset="0"/>
              </a:rPr>
              <a:t>Delay Reasons, Refund Requests</a:t>
            </a:r>
          </a:p>
        </p:txBody>
      </p:sp>
      <p:pic>
        <p:nvPicPr>
          <p:cNvPr id="14" name="Picture 13" descr="A screenshot of a computer&#10;&#10;AI-generated content may be incorrect.">
            <a:extLst>
              <a:ext uri="{FF2B5EF4-FFF2-40B4-BE49-F238E27FC236}">
                <a16:creationId xmlns:a16="http://schemas.microsoft.com/office/drawing/2014/main" id="{F27A77C8-45F4-34CA-D681-02FB9A6FC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0800" y="1955320"/>
            <a:ext cx="11616734" cy="8124667"/>
          </a:xfrm>
          <a:prstGeom prst="rect">
            <a:avLst/>
          </a:prstGeom>
        </p:spPr>
      </p:pic>
      <p:sp>
        <p:nvSpPr>
          <p:cNvPr id="15" name="Freeform 3">
            <a:extLst>
              <a:ext uri="{FF2B5EF4-FFF2-40B4-BE49-F238E27FC236}">
                <a16:creationId xmlns:a16="http://schemas.microsoft.com/office/drawing/2014/main" id="{9DE45BDE-4615-9435-42BC-34E49EE438C7}"/>
              </a:ext>
            </a:extLst>
          </p:cNvPr>
          <p:cNvSpPr/>
          <p:nvPr/>
        </p:nvSpPr>
        <p:spPr>
          <a:xfrm>
            <a:off x="4" y="12221"/>
            <a:ext cx="18287996" cy="1943099"/>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6" name="TextBox 8">
            <a:extLst>
              <a:ext uri="{FF2B5EF4-FFF2-40B4-BE49-F238E27FC236}">
                <a16:creationId xmlns:a16="http://schemas.microsoft.com/office/drawing/2014/main" id="{4C75374F-A6AD-C38B-16DF-172A534BBAF9}"/>
              </a:ext>
            </a:extLst>
          </p:cNvPr>
          <p:cNvSpPr txBox="1"/>
          <p:nvPr/>
        </p:nvSpPr>
        <p:spPr>
          <a:xfrm>
            <a:off x="533400" y="538443"/>
            <a:ext cx="9390243" cy="1015663"/>
          </a:xfrm>
          <a:prstGeom prst="rect">
            <a:avLst/>
          </a:prstGeom>
        </p:spPr>
        <p:txBody>
          <a:bodyPr lIns="0" tIns="0" rIns="0" bIns="0" rtlCol="0" anchor="t">
            <a:spAutoFit/>
          </a:bodyPr>
          <a:lstStyle/>
          <a:p>
            <a:pPr>
              <a:buNone/>
            </a:pPr>
            <a:r>
              <a:rPr lang="en-US" sz="6600" b="1" i="1" dirty="0">
                <a:solidFill>
                  <a:srgbClr val="0F4662"/>
                </a:solidFill>
                <a:latin typeface="Times New Roman" panose="02020603050405020304" pitchFamily="18" charset="0"/>
                <a:cs typeface="Times New Roman" panose="02020603050405020304" pitchFamily="18" charset="0"/>
              </a:rPr>
              <a:t>Dataset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943099"/>
            <a:chOff x="0" y="0"/>
            <a:chExt cx="4816593" cy="1079700"/>
          </a:xfrm>
        </p:grpSpPr>
        <p:sp>
          <p:nvSpPr>
            <p:cNvPr id="3" name="Freeform 3"/>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p:cNvSpPr txBox="1"/>
          <p:nvPr/>
        </p:nvSpPr>
        <p:spPr>
          <a:xfrm>
            <a:off x="381000" y="506775"/>
            <a:ext cx="9914964" cy="1099019"/>
          </a:xfrm>
          <a:prstGeom prst="rect">
            <a:avLst/>
          </a:prstGeom>
        </p:spPr>
        <p:txBody>
          <a:bodyPr lIns="0" tIns="0" rIns="0" bIns="0" rtlCol="0" anchor="t">
            <a:spAutoFit/>
          </a:bodyPr>
          <a:lstStyle/>
          <a:p>
            <a:pPr lvl="0" indent="0">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Data Preprocessing</a:t>
            </a:r>
          </a:p>
        </p:txBody>
      </p:sp>
      <p:sp>
        <p:nvSpPr>
          <p:cNvPr id="19" name="Freeform 19"/>
          <p:cNvSpPr/>
          <p:nvPr/>
        </p:nvSpPr>
        <p:spPr>
          <a:xfrm>
            <a:off x="609600" y="9655275"/>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6" name="TextBox 9">
            <a:extLst>
              <a:ext uri="{FF2B5EF4-FFF2-40B4-BE49-F238E27FC236}">
                <a16:creationId xmlns:a16="http://schemas.microsoft.com/office/drawing/2014/main" id="{AC6019B8-A749-FAE0-25A4-552512B71847}"/>
              </a:ext>
            </a:extLst>
          </p:cNvPr>
          <p:cNvSpPr txBox="1"/>
          <p:nvPr/>
        </p:nvSpPr>
        <p:spPr>
          <a:xfrm>
            <a:off x="442972" y="2265872"/>
            <a:ext cx="6034028" cy="462434"/>
          </a:xfrm>
          <a:prstGeom prst="rect">
            <a:avLst/>
          </a:prstGeom>
        </p:spPr>
        <p:txBody>
          <a:bodyPr wrap="square" lIns="0" tIns="0" rIns="0" bIns="0" rtlCol="0" anchor="t">
            <a:spAutoFit/>
          </a:bodyPr>
          <a:lstStyle/>
          <a:p>
            <a:pPr marL="0" lvl="0" indent="0" algn="l">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Duplicate Records Check:</a:t>
            </a:r>
            <a:endParaRPr lang="en-US" sz="4000" b="1" i="1" dirty="0">
              <a:solidFill>
                <a:srgbClr val="0F4662"/>
              </a:solidFill>
              <a:latin typeface="Times New Roman" panose="02020603050405020304" pitchFamily="18" charset="0"/>
              <a:cs typeface="Times New Roman" panose="02020603050405020304" pitchFamily="18" charset="0"/>
              <a:sym typeface="Quicksand"/>
            </a:endParaRPr>
          </a:p>
        </p:txBody>
      </p:sp>
      <p:sp>
        <p:nvSpPr>
          <p:cNvPr id="28" name="TextBox 27">
            <a:extLst>
              <a:ext uri="{FF2B5EF4-FFF2-40B4-BE49-F238E27FC236}">
                <a16:creationId xmlns:a16="http://schemas.microsoft.com/office/drawing/2014/main" id="{2CA79812-D273-12C0-00D7-9726C3FA17B8}"/>
              </a:ext>
            </a:extLst>
          </p:cNvPr>
          <p:cNvSpPr txBox="1"/>
          <p:nvPr/>
        </p:nvSpPr>
        <p:spPr>
          <a:xfrm>
            <a:off x="609600" y="2839996"/>
            <a:ext cx="5867400" cy="523220"/>
          </a:xfrm>
          <a:prstGeom prst="rect">
            <a:avLst/>
          </a:prstGeom>
          <a:noFill/>
        </p:spPr>
        <p:txBody>
          <a:bodyPr wrap="square">
            <a:spAutoFit/>
          </a:bodyPr>
          <a:lstStyle/>
          <a:p>
            <a:pPr marL="285750" indent="-285750">
              <a:buFont typeface="Arial" panose="020B0604020202020204" pitchFamily="34" charset="0"/>
              <a:buChar char="•"/>
            </a:pPr>
            <a:r>
              <a:rPr lang="en-US" sz="2800" i="1" dirty="0">
                <a:solidFill>
                  <a:srgbClr val="0F4662"/>
                </a:solidFill>
                <a:cs typeface="Times New Roman" panose="02020603050405020304" pitchFamily="18" charset="0"/>
              </a:rPr>
              <a:t>No duplicate records found</a:t>
            </a:r>
          </a:p>
        </p:txBody>
      </p:sp>
      <p:sp>
        <p:nvSpPr>
          <p:cNvPr id="30" name="TextBox 29">
            <a:extLst>
              <a:ext uri="{FF2B5EF4-FFF2-40B4-BE49-F238E27FC236}">
                <a16:creationId xmlns:a16="http://schemas.microsoft.com/office/drawing/2014/main" id="{ECFAB074-7C48-8C12-CEA2-2CD332D17DD5}"/>
              </a:ext>
            </a:extLst>
          </p:cNvPr>
          <p:cNvSpPr txBox="1"/>
          <p:nvPr/>
        </p:nvSpPr>
        <p:spPr>
          <a:xfrm>
            <a:off x="338588" y="3551585"/>
            <a:ext cx="9204384" cy="554767"/>
          </a:xfrm>
          <a:prstGeom prst="rect">
            <a:avLst/>
          </a:prstGeom>
          <a:noFill/>
        </p:spPr>
        <p:txBody>
          <a:bodyPr wrap="square">
            <a:spAutoFit/>
          </a:bodyPr>
          <a:lstStyle/>
          <a:p>
            <a:pPr>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Missing Values Check:</a:t>
            </a:r>
          </a:p>
        </p:txBody>
      </p:sp>
      <p:sp>
        <p:nvSpPr>
          <p:cNvPr id="35" name="TextBox 34">
            <a:extLst>
              <a:ext uri="{FF2B5EF4-FFF2-40B4-BE49-F238E27FC236}">
                <a16:creationId xmlns:a16="http://schemas.microsoft.com/office/drawing/2014/main" id="{50641CC0-9089-DAC4-5CA6-5E3BBF28145D}"/>
              </a:ext>
            </a:extLst>
          </p:cNvPr>
          <p:cNvSpPr txBox="1"/>
          <p:nvPr/>
        </p:nvSpPr>
        <p:spPr>
          <a:xfrm>
            <a:off x="599536" y="4125479"/>
            <a:ext cx="4963064" cy="2677656"/>
          </a:xfrm>
          <a:prstGeom prst="rect">
            <a:avLst/>
          </a:prstGeom>
          <a:noFill/>
        </p:spPr>
        <p:txBody>
          <a:bodyPr wrap="square">
            <a:spAutoFit/>
          </a:bodyPr>
          <a:lstStyle/>
          <a:p>
            <a:pPr marL="285750" indent="-285750">
              <a:buFont typeface="Arial" panose="020B0604020202020204" pitchFamily="34" charset="0"/>
              <a:buChar char="•"/>
            </a:pPr>
            <a:r>
              <a:rPr lang="en-US" sz="2800" i="1" dirty="0" err="1">
                <a:solidFill>
                  <a:srgbClr val="0F4662"/>
                </a:solidFill>
                <a:cs typeface="Times New Roman" panose="02020603050405020304" pitchFamily="18" charset="0"/>
              </a:rPr>
              <a:t>Railcard</a:t>
            </a:r>
            <a:r>
              <a:rPr lang="en-US" sz="2800" i="1" dirty="0">
                <a:solidFill>
                  <a:srgbClr val="0F4662"/>
                </a:solidFill>
                <a:cs typeface="Times New Roman" panose="02020603050405020304" pitchFamily="18" charset="0"/>
              </a:rPr>
              <a:t> :20,918 &gt;Not having </a:t>
            </a:r>
            <a:r>
              <a:rPr lang="en-US" sz="2800" i="1" dirty="0" err="1">
                <a:solidFill>
                  <a:srgbClr val="0F4662"/>
                </a:solidFill>
                <a:cs typeface="Times New Roman" panose="02020603050405020304" pitchFamily="18" charset="0"/>
              </a:rPr>
              <a:t>Railcard</a:t>
            </a:r>
            <a:endParaRPr lang="en-US" sz="2800" i="1" dirty="0">
              <a:solidFill>
                <a:srgbClr val="0F4662"/>
              </a:solidFill>
              <a:cs typeface="Times New Roman" panose="02020603050405020304" pitchFamily="18" charset="0"/>
            </a:endParaRPr>
          </a:p>
          <a:p>
            <a:pPr marL="285750" indent="-285750">
              <a:buFont typeface="Arial" panose="020B0604020202020204" pitchFamily="34" charset="0"/>
              <a:buChar char="•"/>
            </a:pPr>
            <a:r>
              <a:rPr lang="en-US" sz="2800" i="1" dirty="0">
                <a:solidFill>
                  <a:srgbClr val="0F4662"/>
                </a:solidFill>
                <a:cs typeface="Times New Roman" panose="02020603050405020304" pitchFamily="18" charset="0"/>
              </a:rPr>
              <a:t>Actual Arrival Time:1,880 &gt;Trip is Cancelled</a:t>
            </a:r>
          </a:p>
          <a:p>
            <a:pPr marL="285750" indent="-285750">
              <a:buFont typeface="Arial" panose="020B0604020202020204" pitchFamily="34" charset="0"/>
              <a:buChar char="•"/>
            </a:pPr>
            <a:r>
              <a:rPr lang="en-US" sz="2800" i="1" dirty="0">
                <a:solidFill>
                  <a:srgbClr val="0F4662"/>
                </a:solidFill>
                <a:cs typeface="Times New Roman" panose="02020603050405020304" pitchFamily="18" charset="0"/>
              </a:rPr>
              <a:t>Reason for Delay:27,481&gt; Not Delayed</a:t>
            </a:r>
          </a:p>
        </p:txBody>
      </p:sp>
      <p:pic>
        <p:nvPicPr>
          <p:cNvPr id="46" name="Picture 45" descr="A screenshot of a computer&#10;&#10;AI-generated content may be incorrect.">
            <a:extLst>
              <a:ext uri="{FF2B5EF4-FFF2-40B4-BE49-F238E27FC236}">
                <a16:creationId xmlns:a16="http://schemas.microsoft.com/office/drawing/2014/main" id="{66A23B6B-0845-19FE-7D8D-95B5BBC183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30906" y="1943099"/>
            <a:ext cx="8957090" cy="59726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BC54-4150-BA9C-EFC7-FD8C4DE130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7041D52-8413-43CA-64F7-ABE456F6DCBB}"/>
              </a:ext>
            </a:extLst>
          </p:cNvPr>
          <p:cNvGrpSpPr/>
          <p:nvPr/>
        </p:nvGrpSpPr>
        <p:grpSpPr>
          <a:xfrm>
            <a:off x="0" y="0"/>
            <a:ext cx="18288000" cy="1943099"/>
            <a:chOff x="0" y="0"/>
            <a:chExt cx="4816593" cy="1079700"/>
          </a:xfrm>
        </p:grpSpPr>
        <p:sp>
          <p:nvSpPr>
            <p:cNvPr id="3" name="Freeform 3">
              <a:extLst>
                <a:ext uri="{FF2B5EF4-FFF2-40B4-BE49-F238E27FC236}">
                  <a16:creationId xmlns:a16="http://schemas.microsoft.com/office/drawing/2014/main" id="{C9CB1C79-9F87-3BD8-8E72-A22496EBEBEA}"/>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a:extLst>
                <a:ext uri="{FF2B5EF4-FFF2-40B4-BE49-F238E27FC236}">
                  <a16:creationId xmlns:a16="http://schemas.microsoft.com/office/drawing/2014/main" id="{42A6A809-C9D2-8B45-82EA-82E129A906A8}"/>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a:extLst>
              <a:ext uri="{FF2B5EF4-FFF2-40B4-BE49-F238E27FC236}">
                <a16:creationId xmlns:a16="http://schemas.microsoft.com/office/drawing/2014/main" id="{7E74510C-8917-B57C-D418-AD2AF32AAA54}"/>
              </a:ext>
            </a:extLst>
          </p:cNvPr>
          <p:cNvSpPr txBox="1"/>
          <p:nvPr/>
        </p:nvSpPr>
        <p:spPr>
          <a:xfrm>
            <a:off x="381000" y="506775"/>
            <a:ext cx="9914964" cy="1099019"/>
          </a:xfrm>
          <a:prstGeom prst="rect">
            <a:avLst/>
          </a:prstGeom>
        </p:spPr>
        <p:txBody>
          <a:bodyPr lIns="0" tIns="0" rIns="0" bIns="0" rtlCol="0" anchor="t">
            <a:spAutoFit/>
          </a:bodyPr>
          <a:lstStyle/>
          <a:p>
            <a:pPr lvl="0" indent="0">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Data Preprocessing</a:t>
            </a:r>
          </a:p>
        </p:txBody>
      </p:sp>
      <p:sp>
        <p:nvSpPr>
          <p:cNvPr id="19" name="Freeform 19">
            <a:extLst>
              <a:ext uri="{FF2B5EF4-FFF2-40B4-BE49-F238E27FC236}">
                <a16:creationId xmlns:a16="http://schemas.microsoft.com/office/drawing/2014/main" id="{5FFD6416-02D5-7EA5-1897-62249A6D8128}"/>
              </a:ext>
            </a:extLst>
          </p:cNvPr>
          <p:cNvSpPr/>
          <p:nvPr/>
        </p:nvSpPr>
        <p:spPr>
          <a:xfrm>
            <a:off x="609600" y="9655275"/>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id="{623EC3A8-2CC8-0280-B9D2-5F422C67A31B}"/>
              </a:ext>
            </a:extLst>
          </p:cNvPr>
          <p:cNvSpPr txBox="1"/>
          <p:nvPr/>
        </p:nvSpPr>
        <p:spPr>
          <a:xfrm>
            <a:off x="200768" y="2446410"/>
            <a:ext cx="9204384" cy="554767"/>
          </a:xfrm>
          <a:prstGeom prst="rect">
            <a:avLst/>
          </a:prstGeom>
          <a:noFill/>
        </p:spPr>
        <p:txBody>
          <a:bodyPr wrap="square">
            <a:spAutoFit/>
          </a:bodyPr>
          <a:lstStyle/>
          <a:p>
            <a:pPr>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Handling Missing Values:</a:t>
            </a:r>
          </a:p>
        </p:txBody>
      </p:sp>
      <p:sp>
        <p:nvSpPr>
          <p:cNvPr id="44" name="TextBox 43">
            <a:extLst>
              <a:ext uri="{FF2B5EF4-FFF2-40B4-BE49-F238E27FC236}">
                <a16:creationId xmlns:a16="http://schemas.microsoft.com/office/drawing/2014/main" id="{B482850E-9F72-9D9E-F3A7-2944FF1769CA}"/>
              </a:ext>
            </a:extLst>
          </p:cNvPr>
          <p:cNvSpPr txBox="1"/>
          <p:nvPr/>
        </p:nvSpPr>
        <p:spPr>
          <a:xfrm>
            <a:off x="381000" y="3267622"/>
            <a:ext cx="6324600"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i="1" dirty="0">
                <a:solidFill>
                  <a:srgbClr val="0F4662"/>
                </a:solidFill>
                <a:cs typeface="Times New Roman" panose="02020603050405020304" pitchFamily="18" charset="0"/>
              </a:rPr>
              <a:t>Fill </a:t>
            </a:r>
            <a:r>
              <a:rPr lang="en-US" sz="2800" i="1" dirty="0" err="1">
                <a:solidFill>
                  <a:srgbClr val="0F4662"/>
                </a:solidFill>
                <a:cs typeface="Times New Roman" panose="02020603050405020304" pitchFamily="18" charset="0"/>
              </a:rPr>
              <a:t>Railcard</a:t>
            </a:r>
            <a:r>
              <a:rPr lang="en-US" sz="2800" i="1" dirty="0">
                <a:solidFill>
                  <a:srgbClr val="0F4662"/>
                </a:solidFill>
                <a:cs typeface="Times New Roman" panose="02020603050405020304" pitchFamily="18" charset="0"/>
              </a:rPr>
              <a:t> with No </a:t>
            </a:r>
            <a:r>
              <a:rPr lang="en-US" sz="2800" i="1" dirty="0" err="1">
                <a:solidFill>
                  <a:srgbClr val="0F4662"/>
                </a:solidFill>
                <a:cs typeface="Times New Roman" panose="02020603050405020304" pitchFamily="18" charset="0"/>
              </a:rPr>
              <a:t>Railcard</a:t>
            </a:r>
            <a:endParaRPr lang="en-US" sz="2800" i="1" dirty="0">
              <a:solidFill>
                <a:srgbClr val="0F4662"/>
              </a:solidFill>
              <a:cs typeface="Times New Roman" panose="02020603050405020304" pitchFamily="18" charset="0"/>
            </a:endParaRPr>
          </a:p>
          <a:p>
            <a:pPr marL="457200" indent="-457200">
              <a:lnSpc>
                <a:spcPct val="150000"/>
              </a:lnSpc>
              <a:buFont typeface="Arial" panose="020B0604020202020204" pitchFamily="34" charset="0"/>
              <a:buChar char="•"/>
            </a:pPr>
            <a:r>
              <a:rPr lang="en-US" sz="2800" i="1" dirty="0">
                <a:solidFill>
                  <a:srgbClr val="0F4662"/>
                </a:solidFill>
                <a:cs typeface="Times New Roman" panose="02020603050405020304" pitchFamily="18" charset="0"/>
              </a:rPr>
              <a:t>Fill Reason for Delay with not delayed</a:t>
            </a:r>
          </a:p>
          <a:p>
            <a:pPr marL="457200" indent="-457200">
              <a:lnSpc>
                <a:spcPct val="150000"/>
              </a:lnSpc>
              <a:buFont typeface="Arial" panose="020B0604020202020204" pitchFamily="34" charset="0"/>
              <a:buChar char="•"/>
            </a:pPr>
            <a:r>
              <a:rPr lang="en-US" sz="2800" i="1" dirty="0">
                <a:solidFill>
                  <a:srgbClr val="0F4662"/>
                </a:solidFill>
                <a:cs typeface="Times New Roman" panose="02020603050405020304" pitchFamily="18" charset="0"/>
              </a:rPr>
              <a:t>Adjust Values of Reason for Delay for consistency</a:t>
            </a:r>
            <a:r>
              <a:rPr lang="en-US" sz="2600" dirty="0"/>
              <a:t>.</a:t>
            </a:r>
          </a:p>
        </p:txBody>
      </p:sp>
      <p:pic>
        <p:nvPicPr>
          <p:cNvPr id="50" name="Picture 49" descr="A screenshot of a computer code&#10;&#10;AI-generated content may be incorrect.">
            <a:extLst>
              <a:ext uri="{FF2B5EF4-FFF2-40B4-BE49-F238E27FC236}">
                <a16:creationId xmlns:a16="http://schemas.microsoft.com/office/drawing/2014/main" id="{27E4D81A-461C-9287-E2B2-E50C543177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8" y="2107211"/>
            <a:ext cx="8957089" cy="3862759"/>
          </a:xfrm>
          <a:prstGeom prst="rect">
            <a:avLst/>
          </a:prstGeom>
        </p:spPr>
      </p:pic>
    </p:spTree>
    <p:extLst>
      <p:ext uri="{BB962C8B-B14F-4D97-AF65-F5344CB8AC3E}">
        <p14:creationId xmlns:p14="http://schemas.microsoft.com/office/powerpoint/2010/main" val="1425906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a:extLst>
            <a:ext uri="{FF2B5EF4-FFF2-40B4-BE49-F238E27FC236}">
              <a16:creationId xmlns:a16="http://schemas.microsoft.com/office/drawing/2014/main" id="{B3BBA28E-F9FD-2293-193F-E895E23BA6DC}"/>
            </a:ext>
          </a:extLst>
        </p:cNvPr>
        <p:cNvGrpSpPr/>
        <p:nvPr/>
      </p:nvGrpSpPr>
      <p:grpSpPr>
        <a:xfrm>
          <a:off x="0" y="0"/>
          <a:ext cx="0" cy="0"/>
          <a:chOff x="0" y="0"/>
          <a:chExt cx="0" cy="0"/>
        </a:xfrm>
      </p:grpSpPr>
      <p:sp>
        <p:nvSpPr>
          <p:cNvPr id="15" name="Freeform 3">
            <a:extLst>
              <a:ext uri="{FF2B5EF4-FFF2-40B4-BE49-F238E27FC236}">
                <a16:creationId xmlns:a16="http://schemas.microsoft.com/office/drawing/2014/main" id="{33B71F7D-A74D-02DC-0872-4F6147907390}"/>
              </a:ext>
            </a:extLst>
          </p:cNvPr>
          <p:cNvSpPr/>
          <p:nvPr/>
        </p:nvSpPr>
        <p:spPr>
          <a:xfrm>
            <a:off x="4" y="12221"/>
            <a:ext cx="18287996" cy="1943099"/>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6" name="TextBox 8">
            <a:extLst>
              <a:ext uri="{FF2B5EF4-FFF2-40B4-BE49-F238E27FC236}">
                <a16:creationId xmlns:a16="http://schemas.microsoft.com/office/drawing/2014/main" id="{7E05B0C1-DF5E-C166-C43D-013CD8E71434}"/>
              </a:ext>
            </a:extLst>
          </p:cNvPr>
          <p:cNvSpPr txBox="1"/>
          <p:nvPr/>
        </p:nvSpPr>
        <p:spPr>
          <a:xfrm>
            <a:off x="533400" y="538443"/>
            <a:ext cx="13335000" cy="1015663"/>
          </a:xfrm>
          <a:prstGeom prst="rect">
            <a:avLst/>
          </a:prstGeom>
        </p:spPr>
        <p:txBody>
          <a:bodyPr wrap="square" lIns="0" tIns="0" rIns="0" bIns="0" rtlCol="0" anchor="t">
            <a:spAutoFit/>
          </a:bodyPr>
          <a:lstStyle/>
          <a:p>
            <a:r>
              <a:rPr lang="en-US" sz="6600" b="1" i="1" dirty="0">
                <a:solidFill>
                  <a:srgbClr val="0F4662"/>
                </a:solidFill>
                <a:latin typeface="Times New Roman" panose="02020603050405020304" pitchFamily="18" charset="0"/>
                <a:cs typeface="Times New Roman" panose="02020603050405020304" pitchFamily="18" charset="0"/>
              </a:rPr>
              <a:t>Time Parsing &amp; Feature Engineering</a:t>
            </a:r>
          </a:p>
        </p:txBody>
      </p:sp>
      <p:pic>
        <p:nvPicPr>
          <p:cNvPr id="3" name="Picture 2" descr="A screenshot of a computer&#10;&#10;AI-generated content may be incorrect.">
            <a:extLst>
              <a:ext uri="{FF2B5EF4-FFF2-40B4-BE49-F238E27FC236}">
                <a16:creationId xmlns:a16="http://schemas.microsoft.com/office/drawing/2014/main" id="{C18D9389-C7B1-D616-E6BF-F61A2BD9DE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4201" y="1955319"/>
            <a:ext cx="11353796" cy="6297103"/>
          </a:xfrm>
          <a:prstGeom prst="rect">
            <a:avLst/>
          </a:prstGeom>
        </p:spPr>
      </p:pic>
      <p:sp>
        <p:nvSpPr>
          <p:cNvPr id="8" name="TextBox 9">
            <a:extLst>
              <a:ext uri="{FF2B5EF4-FFF2-40B4-BE49-F238E27FC236}">
                <a16:creationId xmlns:a16="http://schemas.microsoft.com/office/drawing/2014/main" id="{E7971F0F-01C1-709C-3D70-DD5B104D8D1B}"/>
              </a:ext>
            </a:extLst>
          </p:cNvPr>
          <p:cNvSpPr txBox="1"/>
          <p:nvPr/>
        </p:nvSpPr>
        <p:spPr>
          <a:xfrm>
            <a:off x="269895" y="2491530"/>
            <a:ext cx="5348229" cy="462434"/>
          </a:xfrm>
          <a:prstGeom prst="rect">
            <a:avLst/>
          </a:prstGeom>
        </p:spPr>
        <p:txBody>
          <a:bodyPr lIns="0" tIns="0" rIns="0" bIns="0" rtlCol="0" anchor="t">
            <a:spAutoFit/>
          </a:bodyPr>
          <a:lstStyle/>
          <a:p>
            <a:pPr marL="0" lvl="0" indent="0" algn="l">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Time Parsing:</a:t>
            </a:r>
            <a:endParaRPr lang="en-US" sz="4000" b="1" i="1" dirty="0">
              <a:solidFill>
                <a:srgbClr val="0F4662"/>
              </a:solidFill>
              <a:latin typeface="Times New Roman" panose="02020603050405020304" pitchFamily="18" charset="0"/>
              <a:cs typeface="Times New Roman" panose="02020603050405020304" pitchFamily="18" charset="0"/>
              <a:sym typeface="Quicksand"/>
            </a:endParaRPr>
          </a:p>
        </p:txBody>
      </p:sp>
      <p:sp>
        <p:nvSpPr>
          <p:cNvPr id="17" name="Rectangle 5">
            <a:extLst>
              <a:ext uri="{FF2B5EF4-FFF2-40B4-BE49-F238E27FC236}">
                <a16:creationId xmlns:a16="http://schemas.microsoft.com/office/drawing/2014/main" id="{BE069BD9-0D1A-2F67-A4BB-75D894BE5DAF}"/>
              </a:ext>
            </a:extLst>
          </p:cNvPr>
          <p:cNvSpPr>
            <a:spLocks noChangeArrowheads="1"/>
          </p:cNvSpPr>
          <p:nvPr/>
        </p:nvSpPr>
        <p:spPr bwMode="auto">
          <a:xfrm>
            <a:off x="269895" y="2903796"/>
            <a:ext cx="4454505" cy="369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800" i="1" dirty="0">
                <a:solidFill>
                  <a:srgbClr val="0F4662"/>
                </a:solidFill>
                <a:cs typeface="Times New Roman" panose="02020603050405020304" pitchFamily="18" charset="0"/>
              </a:rPr>
              <a:t>Converted Departure Time ,Arrival Time and Actual Arrival time to time format.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800" i="1" dirty="0">
                <a:solidFill>
                  <a:srgbClr val="0F4662"/>
                </a:solidFill>
                <a:cs typeface="Times New Roman" panose="02020603050405020304" pitchFamily="18" charset="0"/>
              </a:rPr>
              <a:t>Converted Date of Journey to datetime format.</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6531177"/>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C0F60-7D03-44E4-79AC-10283A61E1F2}"/>
            </a:ext>
          </a:extLst>
        </p:cNvPr>
        <p:cNvGrpSpPr/>
        <p:nvPr/>
      </p:nvGrpSpPr>
      <p:grpSpPr>
        <a:xfrm>
          <a:off x="0" y="0"/>
          <a:ext cx="0" cy="0"/>
          <a:chOff x="0" y="0"/>
          <a:chExt cx="0" cy="0"/>
        </a:xfrm>
      </p:grpSpPr>
      <p:sp>
        <p:nvSpPr>
          <p:cNvPr id="15" name="Freeform 3">
            <a:extLst>
              <a:ext uri="{FF2B5EF4-FFF2-40B4-BE49-F238E27FC236}">
                <a16:creationId xmlns:a16="http://schemas.microsoft.com/office/drawing/2014/main" id="{0B9FA574-4967-353E-1A58-6025466963D2}"/>
              </a:ext>
            </a:extLst>
          </p:cNvPr>
          <p:cNvSpPr/>
          <p:nvPr/>
        </p:nvSpPr>
        <p:spPr>
          <a:xfrm>
            <a:off x="4" y="12221"/>
            <a:ext cx="18287996" cy="1943099"/>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6" name="TextBox 8">
            <a:extLst>
              <a:ext uri="{FF2B5EF4-FFF2-40B4-BE49-F238E27FC236}">
                <a16:creationId xmlns:a16="http://schemas.microsoft.com/office/drawing/2014/main" id="{89E890F7-534E-8E30-7A47-01D1290E80F3}"/>
              </a:ext>
            </a:extLst>
          </p:cNvPr>
          <p:cNvSpPr txBox="1"/>
          <p:nvPr/>
        </p:nvSpPr>
        <p:spPr>
          <a:xfrm>
            <a:off x="533400" y="538443"/>
            <a:ext cx="13335000" cy="1015663"/>
          </a:xfrm>
          <a:prstGeom prst="rect">
            <a:avLst/>
          </a:prstGeom>
        </p:spPr>
        <p:txBody>
          <a:bodyPr wrap="square" lIns="0" tIns="0" rIns="0" bIns="0" rtlCol="0" anchor="t">
            <a:spAutoFit/>
          </a:bodyPr>
          <a:lstStyle/>
          <a:p>
            <a:r>
              <a:rPr lang="en-US" sz="6600" b="1" i="1" dirty="0">
                <a:solidFill>
                  <a:srgbClr val="0F4662"/>
                </a:solidFill>
                <a:latin typeface="Times New Roman" panose="02020603050405020304" pitchFamily="18" charset="0"/>
                <a:cs typeface="Times New Roman" panose="02020603050405020304" pitchFamily="18" charset="0"/>
              </a:rPr>
              <a:t>Time Parsing &amp; Feature Engineering</a:t>
            </a:r>
          </a:p>
        </p:txBody>
      </p:sp>
      <p:sp>
        <p:nvSpPr>
          <p:cNvPr id="18" name="TextBox 9">
            <a:extLst>
              <a:ext uri="{FF2B5EF4-FFF2-40B4-BE49-F238E27FC236}">
                <a16:creationId xmlns:a16="http://schemas.microsoft.com/office/drawing/2014/main" id="{DFE07ECC-44FE-08BF-6CE1-92BA18682A47}"/>
              </a:ext>
            </a:extLst>
          </p:cNvPr>
          <p:cNvSpPr txBox="1"/>
          <p:nvPr/>
        </p:nvSpPr>
        <p:spPr>
          <a:xfrm>
            <a:off x="477202" y="2250325"/>
            <a:ext cx="5348229" cy="462434"/>
          </a:xfrm>
          <a:prstGeom prst="rect">
            <a:avLst/>
          </a:prstGeom>
        </p:spPr>
        <p:txBody>
          <a:bodyPr lIns="0" tIns="0" rIns="0" bIns="0" rtlCol="0" anchor="t">
            <a:spAutoFit/>
          </a:bodyPr>
          <a:lstStyle/>
          <a:p>
            <a:pPr>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Feature Engineering:</a:t>
            </a:r>
            <a:endParaRPr lang="en-US" sz="4000" b="1" i="1" dirty="0">
              <a:solidFill>
                <a:srgbClr val="0F4662"/>
              </a:solidFill>
              <a:latin typeface="Times New Roman" panose="02020603050405020304" pitchFamily="18" charset="0"/>
              <a:cs typeface="Times New Roman" panose="02020603050405020304" pitchFamily="18" charset="0"/>
              <a:sym typeface="Quicksand"/>
            </a:endParaRPr>
          </a:p>
        </p:txBody>
      </p:sp>
      <p:sp>
        <p:nvSpPr>
          <p:cNvPr id="19" name="Rectangle 5">
            <a:extLst>
              <a:ext uri="{FF2B5EF4-FFF2-40B4-BE49-F238E27FC236}">
                <a16:creationId xmlns:a16="http://schemas.microsoft.com/office/drawing/2014/main" id="{916F44C6-4638-4370-DFB8-6226CEAE8C34}"/>
              </a:ext>
            </a:extLst>
          </p:cNvPr>
          <p:cNvSpPr>
            <a:spLocks noChangeArrowheads="1"/>
          </p:cNvSpPr>
          <p:nvPr/>
        </p:nvSpPr>
        <p:spPr bwMode="auto">
          <a:xfrm>
            <a:off x="477202" y="2942897"/>
            <a:ext cx="582610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sz="2800" i="1" dirty="0">
                <a:solidFill>
                  <a:srgbClr val="0F4662"/>
                </a:solidFill>
                <a:cs typeface="Times New Roman" panose="02020603050405020304" pitchFamily="18" charset="0"/>
              </a:rPr>
              <a:t>Calculated Trip Duration (</a:t>
            </a:r>
            <a:r>
              <a:rPr lang="en-US" sz="2800" i="1" dirty="0" err="1">
                <a:solidFill>
                  <a:srgbClr val="0F4662"/>
                </a:solidFill>
                <a:cs typeface="Times New Roman" panose="02020603050405020304" pitchFamily="18" charset="0"/>
              </a:rPr>
              <a:t>hrs</a:t>
            </a:r>
            <a:r>
              <a:rPr lang="en-US" sz="2800" i="1" dirty="0">
                <a:solidFill>
                  <a:srgbClr val="0F4662"/>
                </a:solidFill>
                <a:cs typeface="Times New Roman" panose="02020603050405020304" pitchFamily="18" charset="0"/>
              </a:rPr>
              <a:t>) as difference between arrival time and departure time.</a:t>
            </a:r>
          </a:p>
          <a:p>
            <a:pPr eaLnBrk="0" fontAlgn="base" hangingPunct="0">
              <a:spcBef>
                <a:spcPct val="0"/>
              </a:spcBef>
              <a:spcAft>
                <a:spcPct val="0"/>
              </a:spcAft>
              <a:buFontTx/>
              <a:buChar char="•"/>
            </a:pPr>
            <a:r>
              <a:rPr lang="en-US" sz="2800" i="1" dirty="0">
                <a:solidFill>
                  <a:srgbClr val="0F4662"/>
                </a:solidFill>
                <a:cs typeface="Times New Roman" panose="02020603050405020304" pitchFamily="18" charset="0"/>
              </a:rPr>
              <a:t>Calculated Delay (min) as difference between actual and scheduled arrival times</a:t>
            </a:r>
          </a:p>
          <a:p>
            <a:pPr eaLnBrk="0" fontAlgn="base" hangingPunct="0">
              <a:spcBef>
                <a:spcPct val="0"/>
              </a:spcBef>
              <a:spcAft>
                <a:spcPct val="0"/>
              </a:spcAft>
              <a:buFontTx/>
              <a:buChar char="•"/>
            </a:pPr>
            <a:r>
              <a:rPr lang="en-US" sz="2800" i="1" dirty="0">
                <a:solidFill>
                  <a:srgbClr val="0F4662"/>
                </a:solidFill>
                <a:cs typeface="Times New Roman" panose="02020603050405020304" pitchFamily="18" charset="0"/>
              </a:rPr>
              <a:t>Filling Actual Arrival time missing with Cancelled</a:t>
            </a:r>
          </a:p>
          <a:p>
            <a:pPr eaLnBrk="0" fontAlgn="base" hangingPunct="0">
              <a:spcBef>
                <a:spcPct val="0"/>
              </a:spcBef>
              <a:spcAft>
                <a:spcPct val="0"/>
              </a:spcAft>
              <a:buFontTx/>
              <a:buChar char="•"/>
            </a:pPr>
            <a:r>
              <a:rPr lang="en-US" sz="2800" i="1" dirty="0">
                <a:solidFill>
                  <a:srgbClr val="0F4662"/>
                </a:solidFill>
                <a:cs typeface="Times New Roman" panose="02020603050405020304" pitchFamily="18" charset="0"/>
              </a:rPr>
              <a:t>Filling Delay(min) with -1 indicating Cancelled trips</a:t>
            </a:r>
          </a:p>
        </p:txBody>
      </p:sp>
      <p:pic>
        <p:nvPicPr>
          <p:cNvPr id="21" name="Picture 20">
            <a:extLst>
              <a:ext uri="{FF2B5EF4-FFF2-40B4-BE49-F238E27FC236}">
                <a16:creationId xmlns:a16="http://schemas.microsoft.com/office/drawing/2014/main" id="{272CA080-A960-A4D8-9860-616FE6F83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0" y="2742233"/>
            <a:ext cx="8686800" cy="1275191"/>
          </a:xfrm>
          <a:prstGeom prst="rect">
            <a:avLst/>
          </a:prstGeom>
        </p:spPr>
      </p:pic>
    </p:spTree>
    <p:extLst>
      <p:ext uri="{BB962C8B-B14F-4D97-AF65-F5344CB8AC3E}">
        <p14:creationId xmlns:p14="http://schemas.microsoft.com/office/powerpoint/2010/main" val="2793761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27021-0905-86A2-D827-B85B6FB409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C2A86B-1FDA-CF79-8753-32284D05C7EC}"/>
              </a:ext>
            </a:extLst>
          </p:cNvPr>
          <p:cNvGrpSpPr/>
          <p:nvPr/>
        </p:nvGrpSpPr>
        <p:grpSpPr>
          <a:xfrm>
            <a:off x="0" y="0"/>
            <a:ext cx="18288000" cy="1943099"/>
            <a:chOff x="0" y="0"/>
            <a:chExt cx="4816593" cy="1079700"/>
          </a:xfrm>
        </p:grpSpPr>
        <p:sp>
          <p:nvSpPr>
            <p:cNvPr id="3" name="Freeform 3">
              <a:extLst>
                <a:ext uri="{FF2B5EF4-FFF2-40B4-BE49-F238E27FC236}">
                  <a16:creationId xmlns:a16="http://schemas.microsoft.com/office/drawing/2014/main" id="{B7C66F58-4565-3C76-C300-8FA2FA8AD2BD}"/>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a:extLst>
                <a:ext uri="{FF2B5EF4-FFF2-40B4-BE49-F238E27FC236}">
                  <a16:creationId xmlns:a16="http://schemas.microsoft.com/office/drawing/2014/main" id="{19D4125F-D3E6-82E6-617D-0E38C0FF42BA}"/>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a:extLst>
              <a:ext uri="{FF2B5EF4-FFF2-40B4-BE49-F238E27FC236}">
                <a16:creationId xmlns:a16="http://schemas.microsoft.com/office/drawing/2014/main" id="{FEB501B5-6C49-ED7D-3444-F7C2BD6C0E11}"/>
              </a:ext>
            </a:extLst>
          </p:cNvPr>
          <p:cNvSpPr txBox="1"/>
          <p:nvPr/>
        </p:nvSpPr>
        <p:spPr>
          <a:xfrm>
            <a:off x="5075356" y="472636"/>
            <a:ext cx="99149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Statistical Information</a:t>
            </a:r>
          </a:p>
        </p:txBody>
      </p:sp>
      <p:grpSp>
        <p:nvGrpSpPr>
          <p:cNvPr id="12" name="Group 2">
            <a:extLst>
              <a:ext uri="{FF2B5EF4-FFF2-40B4-BE49-F238E27FC236}">
                <a16:creationId xmlns:a16="http://schemas.microsoft.com/office/drawing/2014/main" id="{D501C1ED-BD38-D267-4D29-33E4855EAF35}"/>
              </a:ext>
            </a:extLst>
          </p:cNvPr>
          <p:cNvGrpSpPr/>
          <p:nvPr/>
        </p:nvGrpSpPr>
        <p:grpSpPr>
          <a:xfrm>
            <a:off x="228601" y="2232349"/>
            <a:ext cx="8382000" cy="7422926"/>
            <a:chOff x="0" y="0"/>
            <a:chExt cx="1418473" cy="1692619"/>
          </a:xfrm>
        </p:grpSpPr>
        <p:sp>
          <p:nvSpPr>
            <p:cNvPr id="13" name="Freeform 3">
              <a:extLst>
                <a:ext uri="{FF2B5EF4-FFF2-40B4-BE49-F238E27FC236}">
                  <a16:creationId xmlns:a16="http://schemas.microsoft.com/office/drawing/2014/main" id="{C756C3A6-8D30-3D26-9D1B-4E42F1EA9AA5}"/>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14" name="TextBox 4">
              <a:extLst>
                <a:ext uri="{FF2B5EF4-FFF2-40B4-BE49-F238E27FC236}">
                  <a16:creationId xmlns:a16="http://schemas.microsoft.com/office/drawing/2014/main" id="{6439F269-3203-66F4-163C-BB2A64E79D40}"/>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pic>
        <p:nvPicPr>
          <p:cNvPr id="15" name="Picture 14" descr="A screenshot of a computer&#10;&#10;AI-generated content may be incorrect.">
            <a:extLst>
              <a:ext uri="{FF2B5EF4-FFF2-40B4-BE49-F238E27FC236}">
                <a16:creationId xmlns:a16="http://schemas.microsoft.com/office/drawing/2014/main" id="{56FF3E28-168F-15E2-544C-B545A70772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1" y="4289596"/>
            <a:ext cx="8382000" cy="5241628"/>
          </a:xfrm>
          <a:prstGeom prst="rect">
            <a:avLst/>
          </a:prstGeom>
        </p:spPr>
      </p:pic>
      <p:sp>
        <p:nvSpPr>
          <p:cNvPr id="16" name="TextBox 9">
            <a:extLst>
              <a:ext uri="{FF2B5EF4-FFF2-40B4-BE49-F238E27FC236}">
                <a16:creationId xmlns:a16="http://schemas.microsoft.com/office/drawing/2014/main" id="{2A970E6E-A1D8-BFDD-8579-42157815BB0C}"/>
              </a:ext>
            </a:extLst>
          </p:cNvPr>
          <p:cNvSpPr txBox="1"/>
          <p:nvPr/>
        </p:nvSpPr>
        <p:spPr>
          <a:xfrm>
            <a:off x="1154500" y="2995900"/>
            <a:ext cx="6648096" cy="507383"/>
          </a:xfrm>
          <a:prstGeom prst="rect">
            <a:avLst/>
          </a:prstGeom>
        </p:spPr>
        <p:txBody>
          <a:bodyPr wrap="square" lIns="0" tIns="0" rIns="0" bIns="0" rtlCol="0" anchor="t">
            <a:spAutoFit/>
          </a:bodyPr>
          <a:lstStyle/>
          <a:p>
            <a:pPr>
              <a:lnSpc>
                <a:spcPts val="3359"/>
              </a:lnSpc>
              <a:spcBef>
                <a:spcPct val="0"/>
              </a:spcBef>
            </a:pPr>
            <a:r>
              <a:rPr lang="en-US" sz="6000" b="1" i="1" dirty="0">
                <a:solidFill>
                  <a:srgbClr val="0F4662"/>
                </a:solidFill>
                <a:latin typeface="Times New Roman" panose="02020603050405020304" pitchFamily="18" charset="0"/>
                <a:cs typeface="Times New Roman" panose="02020603050405020304" pitchFamily="18" charset="0"/>
              </a:rPr>
              <a:t>Statistical Values</a:t>
            </a:r>
            <a:endParaRPr lang="en-US" sz="6000" b="1" i="1" dirty="0">
              <a:solidFill>
                <a:srgbClr val="0F4662"/>
              </a:solidFill>
              <a:latin typeface="Times New Roman" panose="02020603050405020304" pitchFamily="18" charset="0"/>
              <a:cs typeface="Times New Roman" panose="02020603050405020304" pitchFamily="18" charset="0"/>
              <a:sym typeface="Quicksand"/>
            </a:endParaRPr>
          </a:p>
        </p:txBody>
      </p:sp>
      <p:grpSp>
        <p:nvGrpSpPr>
          <p:cNvPr id="17" name="Group 2">
            <a:extLst>
              <a:ext uri="{FF2B5EF4-FFF2-40B4-BE49-F238E27FC236}">
                <a16:creationId xmlns:a16="http://schemas.microsoft.com/office/drawing/2014/main" id="{4521DEA4-9712-E7D1-94AE-9927A2ED8BA4}"/>
              </a:ext>
            </a:extLst>
          </p:cNvPr>
          <p:cNvGrpSpPr/>
          <p:nvPr/>
        </p:nvGrpSpPr>
        <p:grpSpPr>
          <a:xfrm>
            <a:off x="9143998" y="2182071"/>
            <a:ext cx="8382000" cy="7598154"/>
            <a:chOff x="0" y="0"/>
            <a:chExt cx="1418473" cy="1692619"/>
          </a:xfrm>
        </p:grpSpPr>
        <p:sp>
          <p:nvSpPr>
            <p:cNvPr id="18" name="Freeform 3">
              <a:extLst>
                <a:ext uri="{FF2B5EF4-FFF2-40B4-BE49-F238E27FC236}">
                  <a16:creationId xmlns:a16="http://schemas.microsoft.com/office/drawing/2014/main" id="{478033B9-F113-0C5F-9C93-47C1E4BD722F}"/>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20" name="TextBox 4">
              <a:extLst>
                <a:ext uri="{FF2B5EF4-FFF2-40B4-BE49-F238E27FC236}">
                  <a16:creationId xmlns:a16="http://schemas.microsoft.com/office/drawing/2014/main" id="{4B62EC28-00FB-CAC1-F2FA-3D80C89FEB60}"/>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pic>
        <p:nvPicPr>
          <p:cNvPr id="21" name="Picture 20" descr="A screenshot of a computer screen&#10;&#10;AI-generated content may be incorrect.">
            <a:extLst>
              <a:ext uri="{FF2B5EF4-FFF2-40B4-BE49-F238E27FC236}">
                <a16:creationId xmlns:a16="http://schemas.microsoft.com/office/drawing/2014/main" id="{AE660ED9-420E-3345-5D25-7D9EA38679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5000" y="3848202"/>
            <a:ext cx="7010398" cy="5773286"/>
          </a:xfrm>
          <a:prstGeom prst="rect">
            <a:avLst/>
          </a:prstGeom>
        </p:spPr>
      </p:pic>
      <p:sp>
        <p:nvSpPr>
          <p:cNvPr id="22" name="TextBox 9">
            <a:extLst>
              <a:ext uri="{FF2B5EF4-FFF2-40B4-BE49-F238E27FC236}">
                <a16:creationId xmlns:a16="http://schemas.microsoft.com/office/drawing/2014/main" id="{0EE8B269-3574-058D-055A-B95C80CCA393}"/>
              </a:ext>
            </a:extLst>
          </p:cNvPr>
          <p:cNvSpPr txBox="1"/>
          <p:nvPr/>
        </p:nvSpPr>
        <p:spPr>
          <a:xfrm>
            <a:off x="9555192" y="2972713"/>
            <a:ext cx="6248402" cy="507383"/>
          </a:xfrm>
          <a:prstGeom prst="rect">
            <a:avLst/>
          </a:prstGeom>
        </p:spPr>
        <p:txBody>
          <a:bodyPr wrap="square" lIns="0" tIns="0" rIns="0" bIns="0" rtlCol="0" anchor="t">
            <a:spAutoFit/>
          </a:bodyPr>
          <a:lstStyle/>
          <a:p>
            <a:pPr lvl="0" indent="0">
              <a:lnSpc>
                <a:spcPts val="3359"/>
              </a:lnSpc>
              <a:spcBef>
                <a:spcPct val="0"/>
              </a:spcBef>
            </a:pPr>
            <a:r>
              <a:rPr lang="en-US" sz="6000" b="1" i="1" dirty="0">
                <a:solidFill>
                  <a:srgbClr val="0F4662"/>
                </a:solidFill>
                <a:latin typeface="Times New Roman" panose="02020603050405020304" pitchFamily="18" charset="0"/>
                <a:cs typeface="Times New Roman" panose="02020603050405020304" pitchFamily="18" charset="0"/>
              </a:rPr>
              <a:t>Data Types</a:t>
            </a:r>
            <a:endParaRPr lang="en-US" sz="6000" b="1" i="1" dirty="0">
              <a:solidFill>
                <a:srgbClr val="0F4662"/>
              </a:solidFill>
              <a:latin typeface="Times New Roman" panose="02020603050405020304" pitchFamily="18" charset="0"/>
              <a:cs typeface="Times New Roman" panose="02020603050405020304" pitchFamily="18" charset="0"/>
              <a:sym typeface="Quicksand"/>
            </a:endParaRPr>
          </a:p>
        </p:txBody>
      </p:sp>
    </p:spTree>
    <p:extLst>
      <p:ext uri="{BB962C8B-B14F-4D97-AF65-F5344CB8AC3E}">
        <p14:creationId xmlns:p14="http://schemas.microsoft.com/office/powerpoint/2010/main" val="1065198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53CEF-5384-4B78-A90F-8BB6DD24409F}"/>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BFE648F-554A-6629-4B3F-A7F95CEE1DA0}"/>
              </a:ext>
            </a:extLst>
          </p:cNvPr>
          <p:cNvSpPr txBox="1"/>
          <p:nvPr/>
        </p:nvSpPr>
        <p:spPr>
          <a:xfrm>
            <a:off x="1024384" y="599709"/>
            <a:ext cx="14072064" cy="1099019"/>
          </a:xfrm>
          <a:prstGeom prst="rect">
            <a:avLst/>
          </a:prstGeom>
        </p:spPr>
        <p:txBody>
          <a:bodyPr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UK Train Analysis</a:t>
            </a:r>
          </a:p>
        </p:txBody>
      </p:sp>
      <p:sp>
        <p:nvSpPr>
          <p:cNvPr id="9" name="TextBox 9">
            <a:extLst>
              <a:ext uri="{FF2B5EF4-FFF2-40B4-BE49-F238E27FC236}">
                <a16:creationId xmlns:a16="http://schemas.microsoft.com/office/drawing/2014/main" id="{02BBF718-52EC-6AF7-D468-8FDF8971B2D8}"/>
              </a:ext>
            </a:extLst>
          </p:cNvPr>
          <p:cNvSpPr txBox="1"/>
          <p:nvPr/>
        </p:nvSpPr>
        <p:spPr>
          <a:xfrm>
            <a:off x="956742" y="2561632"/>
            <a:ext cx="6705600" cy="447238"/>
          </a:xfrm>
          <a:prstGeom prst="rect">
            <a:avLst/>
          </a:prstGeom>
        </p:spPr>
        <p:txBody>
          <a:bodyPr wrap="square" lIns="0" tIns="0" rIns="0" bIns="0" rtlCol="0" anchor="t">
            <a:spAutoFit/>
          </a:bodyPr>
          <a:lstStyle/>
          <a:p>
            <a:pPr marL="0" lvl="0" indent="0" algn="l">
              <a:lnSpc>
                <a:spcPts val="3359"/>
              </a:lnSpc>
              <a:spcBef>
                <a:spcPct val="0"/>
              </a:spcBef>
            </a:pPr>
            <a:r>
              <a:rPr lang="en-US" sz="4000" dirty="0">
                <a:solidFill>
                  <a:srgbClr val="0F4662"/>
                </a:solidFill>
                <a:latin typeface="Times New Roman" panose="02020603050405020304" pitchFamily="18" charset="0"/>
                <a:ea typeface="Quicksand"/>
                <a:cs typeface="Times New Roman" panose="02020603050405020304" pitchFamily="18" charset="0"/>
                <a:sym typeface="Quicksand"/>
              </a:rPr>
              <a:t>How punctual is the UK train?</a:t>
            </a:r>
          </a:p>
        </p:txBody>
      </p:sp>
      <p:sp>
        <p:nvSpPr>
          <p:cNvPr id="13" name="Freeform 13">
            <a:extLst>
              <a:ext uri="{FF2B5EF4-FFF2-40B4-BE49-F238E27FC236}">
                <a16:creationId xmlns:a16="http://schemas.microsoft.com/office/drawing/2014/main" id="{39A23111-CBCD-4613-F9B3-FC49DEBAAE86}"/>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5B6EFD5C-B1A1-61D2-AF62-8F4D994BB3A3}"/>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TextBox 9">
            <a:extLst>
              <a:ext uri="{FF2B5EF4-FFF2-40B4-BE49-F238E27FC236}">
                <a16:creationId xmlns:a16="http://schemas.microsoft.com/office/drawing/2014/main" id="{AB14E270-D394-7691-63FA-7782883953DC}"/>
              </a:ext>
            </a:extLst>
          </p:cNvPr>
          <p:cNvSpPr txBox="1"/>
          <p:nvPr/>
        </p:nvSpPr>
        <p:spPr>
          <a:xfrm>
            <a:off x="9916064" y="2613487"/>
            <a:ext cx="6705600" cy="447238"/>
          </a:xfrm>
          <a:prstGeom prst="rect">
            <a:avLst/>
          </a:prstGeom>
        </p:spPr>
        <p:txBody>
          <a:bodyPr wrap="square" lIns="0" tIns="0" rIns="0" bIns="0" rtlCol="0" anchor="t">
            <a:spAutoFit/>
          </a:bodyPr>
          <a:lstStyle/>
          <a:p>
            <a:pP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Distribution of Purchase Type</a:t>
            </a:r>
          </a:p>
        </p:txBody>
      </p:sp>
      <p:pic>
        <p:nvPicPr>
          <p:cNvPr id="17" name="Picture 16" descr="A green and red graph&#10;&#10;AI-generated content may be incorrect.">
            <a:extLst>
              <a:ext uri="{FF2B5EF4-FFF2-40B4-BE49-F238E27FC236}">
                <a16:creationId xmlns:a16="http://schemas.microsoft.com/office/drawing/2014/main" id="{12F89B44-47E7-015C-68AA-3C7E663FAD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684" y="3134040"/>
            <a:ext cx="8449716" cy="6048060"/>
          </a:xfrm>
          <a:prstGeom prst="rect">
            <a:avLst/>
          </a:prstGeom>
        </p:spPr>
      </p:pic>
      <p:pic>
        <p:nvPicPr>
          <p:cNvPr id="19" name="Picture 18" descr="A chart with a pink and blue rectangle&#10;&#10;AI-generated content may be incorrect.">
            <a:extLst>
              <a:ext uri="{FF2B5EF4-FFF2-40B4-BE49-F238E27FC236}">
                <a16:creationId xmlns:a16="http://schemas.microsoft.com/office/drawing/2014/main" id="{DC0FF0E9-C368-C830-21DE-4D9C00AA7F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4948" y="3423857"/>
            <a:ext cx="6926652" cy="5758243"/>
          </a:xfrm>
          <a:prstGeom prst="rect">
            <a:avLst/>
          </a:prstGeom>
        </p:spPr>
      </p:pic>
      <p:grpSp>
        <p:nvGrpSpPr>
          <p:cNvPr id="20" name="Group 2">
            <a:extLst>
              <a:ext uri="{FF2B5EF4-FFF2-40B4-BE49-F238E27FC236}">
                <a16:creationId xmlns:a16="http://schemas.microsoft.com/office/drawing/2014/main" id="{B02A2D64-6031-B3ED-F2D7-FB98E8627218}"/>
              </a:ext>
            </a:extLst>
          </p:cNvPr>
          <p:cNvGrpSpPr/>
          <p:nvPr/>
        </p:nvGrpSpPr>
        <p:grpSpPr>
          <a:xfrm>
            <a:off x="18691" y="-43988"/>
            <a:ext cx="18288000" cy="1943099"/>
            <a:chOff x="0" y="0"/>
            <a:chExt cx="4816593" cy="1079700"/>
          </a:xfrm>
        </p:grpSpPr>
        <p:sp>
          <p:nvSpPr>
            <p:cNvPr id="21" name="Freeform 3">
              <a:extLst>
                <a:ext uri="{FF2B5EF4-FFF2-40B4-BE49-F238E27FC236}">
                  <a16:creationId xmlns:a16="http://schemas.microsoft.com/office/drawing/2014/main" id="{6BE58B3E-9895-E0F8-4D34-D2999FE30897}"/>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22" name="TextBox 4">
              <a:extLst>
                <a:ext uri="{FF2B5EF4-FFF2-40B4-BE49-F238E27FC236}">
                  <a16:creationId xmlns:a16="http://schemas.microsoft.com/office/drawing/2014/main" id="{8E9B6136-44A5-308E-D5BF-C800B54CB156}"/>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23" name="TextBox 6">
            <a:extLst>
              <a:ext uri="{FF2B5EF4-FFF2-40B4-BE49-F238E27FC236}">
                <a16:creationId xmlns:a16="http://schemas.microsoft.com/office/drawing/2014/main" id="{55F8F727-47B4-DE84-CB1C-502364524A85}"/>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436650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4C13-D4A9-51B9-93FF-586F2A29C1E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1427261D-9A36-20A1-631D-E6ABC5AD2B28}"/>
              </a:ext>
            </a:extLst>
          </p:cNvPr>
          <p:cNvSpPr txBox="1"/>
          <p:nvPr/>
        </p:nvSpPr>
        <p:spPr>
          <a:xfrm>
            <a:off x="1024384" y="599709"/>
            <a:ext cx="14072064" cy="1099019"/>
          </a:xfrm>
          <a:prstGeom prst="rect">
            <a:avLst/>
          </a:prstGeom>
        </p:spPr>
        <p:txBody>
          <a:bodyPr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UK Train Analysis</a:t>
            </a:r>
          </a:p>
        </p:txBody>
      </p:sp>
      <p:sp>
        <p:nvSpPr>
          <p:cNvPr id="9" name="TextBox 9">
            <a:extLst>
              <a:ext uri="{FF2B5EF4-FFF2-40B4-BE49-F238E27FC236}">
                <a16:creationId xmlns:a16="http://schemas.microsoft.com/office/drawing/2014/main" id="{776036F1-9BB5-E12B-CD46-04CAFF1A6578}"/>
              </a:ext>
            </a:extLst>
          </p:cNvPr>
          <p:cNvSpPr txBox="1"/>
          <p:nvPr/>
        </p:nvSpPr>
        <p:spPr>
          <a:xfrm>
            <a:off x="774789" y="2678895"/>
            <a:ext cx="6705600" cy="447238"/>
          </a:xfrm>
          <a:prstGeom prst="rect">
            <a:avLst/>
          </a:prstGeom>
        </p:spPr>
        <p:txBody>
          <a:bodyPr wrap="square" lIns="0" tIns="0" rIns="0" bIns="0" rtlCol="0" anchor="t">
            <a:spAutoFit/>
          </a:bodyPr>
          <a:lstStyle>
            <a:defPPr>
              <a:defRPr lang="en-US"/>
            </a:defPPr>
            <a:lvl1pPr lvl="0" indent="0">
              <a:lnSpc>
                <a:spcPts val="3359"/>
              </a:lnSpc>
              <a:spcBef>
                <a:spcPct val="0"/>
              </a:spcBef>
              <a:defRPr sz="4000" b="1">
                <a:solidFill>
                  <a:srgbClr val="0F4662"/>
                </a:solidFill>
                <a:latin typeface="Times New Roman" panose="02020603050405020304" pitchFamily="18" charset="0"/>
                <a:cs typeface="Times New Roman" panose="02020603050405020304" pitchFamily="18" charset="0"/>
              </a:defRPr>
            </a:lvl1pPr>
          </a:lstStyle>
          <a:p>
            <a:r>
              <a:rPr lang="en-US" b="0" dirty="0">
                <a:sym typeface="Quicksand"/>
              </a:rPr>
              <a:t>The different paying methods</a:t>
            </a:r>
          </a:p>
        </p:txBody>
      </p:sp>
      <p:sp>
        <p:nvSpPr>
          <p:cNvPr id="13" name="Freeform 13">
            <a:extLst>
              <a:ext uri="{FF2B5EF4-FFF2-40B4-BE49-F238E27FC236}">
                <a16:creationId xmlns:a16="http://schemas.microsoft.com/office/drawing/2014/main" id="{9E4FC53F-269A-0C94-10C4-695DFF8C0CF5}"/>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0EB81B47-C208-6C86-2C4D-22A2E7A63F6D}"/>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5" name="TextBox 9">
            <a:extLst>
              <a:ext uri="{FF2B5EF4-FFF2-40B4-BE49-F238E27FC236}">
                <a16:creationId xmlns:a16="http://schemas.microsoft.com/office/drawing/2014/main" id="{BB0F30FB-2FA2-39E4-C602-60216047F1BB}"/>
              </a:ext>
            </a:extLst>
          </p:cNvPr>
          <p:cNvSpPr txBox="1"/>
          <p:nvPr/>
        </p:nvSpPr>
        <p:spPr>
          <a:xfrm>
            <a:off x="9883939" y="2742978"/>
            <a:ext cx="7371427" cy="449547"/>
          </a:xfrm>
          <a:prstGeom prst="rect">
            <a:avLst/>
          </a:prstGeom>
        </p:spPr>
        <p:txBody>
          <a:bodyPr wrap="square" lIns="0" tIns="0" rIns="0" bIns="0" rtlCol="0" anchor="t">
            <a:spAutoFit/>
          </a:bodyPr>
          <a:lstStyle/>
          <a:p>
            <a:pPr marL="0" lvl="0" indent="0" algn="l">
              <a:lnSpc>
                <a:spcPts val="3359"/>
              </a:lnSpc>
              <a:spcBef>
                <a:spcPct val="0"/>
              </a:spcBef>
            </a:pPr>
            <a:r>
              <a:rPr lang="en-US" sz="4000" dirty="0">
                <a:solidFill>
                  <a:srgbClr val="0F4662"/>
                </a:solidFill>
                <a:latin typeface="Quicksand"/>
                <a:ea typeface="Quicksand"/>
                <a:cs typeface="Quicksand"/>
                <a:sym typeface="Quicksand"/>
              </a:rPr>
              <a:t> </a:t>
            </a:r>
            <a:r>
              <a:rPr lang="en-US" sz="4000" dirty="0">
                <a:solidFill>
                  <a:srgbClr val="0F4662"/>
                </a:solidFill>
                <a:latin typeface="Times New Roman" panose="02020603050405020304" pitchFamily="18" charset="0"/>
                <a:cs typeface="Times New Roman" panose="02020603050405020304" pitchFamily="18" charset="0"/>
                <a:sym typeface="Quicksand"/>
              </a:rPr>
              <a:t>The different classes in the train</a:t>
            </a:r>
          </a:p>
        </p:txBody>
      </p:sp>
      <p:pic>
        <p:nvPicPr>
          <p:cNvPr id="3" name="Picture 2" descr="A pie chart with numbers and text&#10;&#10;AI-generated content may be incorrect.">
            <a:extLst>
              <a:ext uri="{FF2B5EF4-FFF2-40B4-BE49-F238E27FC236}">
                <a16:creationId xmlns:a16="http://schemas.microsoft.com/office/drawing/2014/main" id="{0D374F39-CF30-0D6B-4DA2-68E8737FA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011" y="3558260"/>
            <a:ext cx="6649378" cy="4544059"/>
          </a:xfrm>
          <a:prstGeom prst="rect">
            <a:avLst/>
          </a:prstGeom>
        </p:spPr>
      </p:pic>
      <p:pic>
        <p:nvPicPr>
          <p:cNvPr id="8" name="Picture 7" descr="A pie chart with a blue and red circle&#10;&#10;AI-generated content may be incorrect.">
            <a:extLst>
              <a:ext uri="{FF2B5EF4-FFF2-40B4-BE49-F238E27FC236}">
                <a16:creationId xmlns:a16="http://schemas.microsoft.com/office/drawing/2014/main" id="{90D2C4AB-FF25-2AF1-D525-959A06EF19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82200" y="3678180"/>
            <a:ext cx="6611273" cy="4696480"/>
          </a:xfrm>
          <a:prstGeom prst="rect">
            <a:avLst/>
          </a:prstGeom>
        </p:spPr>
      </p:pic>
      <p:grpSp>
        <p:nvGrpSpPr>
          <p:cNvPr id="10" name="Group 2">
            <a:extLst>
              <a:ext uri="{FF2B5EF4-FFF2-40B4-BE49-F238E27FC236}">
                <a16:creationId xmlns:a16="http://schemas.microsoft.com/office/drawing/2014/main" id="{24E1EA40-5101-73F0-DA43-CB82FB061367}"/>
              </a:ext>
            </a:extLst>
          </p:cNvPr>
          <p:cNvGrpSpPr/>
          <p:nvPr/>
        </p:nvGrpSpPr>
        <p:grpSpPr>
          <a:xfrm>
            <a:off x="18691" y="-43988"/>
            <a:ext cx="18288000" cy="1943099"/>
            <a:chOff x="0" y="0"/>
            <a:chExt cx="4816593" cy="1079700"/>
          </a:xfrm>
        </p:grpSpPr>
        <p:sp>
          <p:nvSpPr>
            <p:cNvPr id="11" name="Freeform 3">
              <a:extLst>
                <a:ext uri="{FF2B5EF4-FFF2-40B4-BE49-F238E27FC236}">
                  <a16:creationId xmlns:a16="http://schemas.microsoft.com/office/drawing/2014/main" id="{4078BF86-8E3B-244D-C5FB-FDC2C25E17C4}"/>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2" name="TextBox 4">
              <a:extLst>
                <a:ext uri="{FF2B5EF4-FFF2-40B4-BE49-F238E27FC236}">
                  <a16:creationId xmlns:a16="http://schemas.microsoft.com/office/drawing/2014/main" id="{86C2617A-8203-6F4F-704A-0C287EE40B35}"/>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20" name="TextBox 6">
            <a:extLst>
              <a:ext uri="{FF2B5EF4-FFF2-40B4-BE49-F238E27FC236}">
                <a16:creationId xmlns:a16="http://schemas.microsoft.com/office/drawing/2014/main" id="{3F0F752A-89EB-BFD6-2B91-AA2AE574BFC0}"/>
              </a:ext>
            </a:extLst>
          </p:cNvPr>
          <p:cNvSpPr txBox="1"/>
          <p:nvPr/>
        </p:nvSpPr>
        <p:spPr>
          <a:xfrm>
            <a:off x="631026" y="368664"/>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251271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94606-B744-AD43-55FE-B2462BA234CC}"/>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604848EF-2536-D09A-4087-BD80C91E6069}"/>
              </a:ext>
            </a:extLst>
          </p:cNvPr>
          <p:cNvSpPr txBox="1"/>
          <p:nvPr/>
        </p:nvSpPr>
        <p:spPr>
          <a:xfrm>
            <a:off x="805132" y="2374571"/>
            <a:ext cx="15925800" cy="450123"/>
          </a:xfrm>
          <a:prstGeom prst="rect">
            <a:avLst/>
          </a:prstGeom>
        </p:spPr>
        <p:txBody>
          <a:bodyPr wrap="square" lIns="0" tIns="0" rIns="0" bIns="0" rtlCol="0" anchor="t">
            <a:spAutoFit/>
          </a:bodyPr>
          <a:lstStyle/>
          <a:p>
            <a:pPr marL="0" lvl="0" indent="0"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The </a:t>
            </a:r>
            <a:r>
              <a:rPr lang="en-US" sz="4000" dirty="0" err="1">
                <a:solidFill>
                  <a:srgbClr val="0F4662"/>
                </a:solidFill>
                <a:latin typeface="Times New Roman" panose="02020603050405020304" pitchFamily="18" charset="0"/>
                <a:cs typeface="Times New Roman" panose="02020603050405020304" pitchFamily="18" charset="0"/>
                <a:sym typeface="Quicksand"/>
              </a:rPr>
              <a:t>highest_traffic</a:t>
            </a:r>
            <a:r>
              <a:rPr lang="en-US" sz="4000" dirty="0">
                <a:solidFill>
                  <a:srgbClr val="0F4662"/>
                </a:solidFill>
                <a:latin typeface="Times New Roman" panose="02020603050405020304" pitchFamily="18" charset="0"/>
                <a:cs typeface="Times New Roman" panose="02020603050405020304" pitchFamily="18" charset="0"/>
                <a:sym typeface="Quicksand"/>
              </a:rPr>
              <a:t> arrival destinations vs </a:t>
            </a:r>
            <a:r>
              <a:rPr lang="en-US" sz="4000" dirty="0" err="1">
                <a:solidFill>
                  <a:srgbClr val="0F4662"/>
                </a:solidFill>
                <a:latin typeface="Times New Roman" panose="02020603050405020304" pitchFamily="18" charset="0"/>
                <a:cs typeface="Times New Roman" panose="02020603050405020304" pitchFamily="18" charset="0"/>
                <a:sym typeface="Quicksand"/>
              </a:rPr>
              <a:t>lowest_traffic</a:t>
            </a:r>
            <a:r>
              <a:rPr lang="en-US" sz="4000" dirty="0">
                <a:solidFill>
                  <a:srgbClr val="0F4662"/>
                </a:solidFill>
                <a:latin typeface="Times New Roman" panose="02020603050405020304" pitchFamily="18" charset="0"/>
                <a:cs typeface="Times New Roman" panose="02020603050405020304" pitchFamily="18" charset="0"/>
                <a:sym typeface="Quicksand"/>
              </a:rPr>
              <a:t> </a:t>
            </a:r>
          </a:p>
        </p:txBody>
      </p:sp>
      <p:sp>
        <p:nvSpPr>
          <p:cNvPr id="14" name="Freeform 14">
            <a:extLst>
              <a:ext uri="{FF2B5EF4-FFF2-40B4-BE49-F238E27FC236}">
                <a16:creationId xmlns:a16="http://schemas.microsoft.com/office/drawing/2014/main" id="{A46E1C6C-0265-7F97-9A49-39753A5411A9}"/>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pic>
        <p:nvPicPr>
          <p:cNvPr id="4" name="Picture 3" descr="A graph of different colored bars&#10;&#10;AI-generated content may be incorrect.">
            <a:extLst>
              <a:ext uri="{FF2B5EF4-FFF2-40B4-BE49-F238E27FC236}">
                <a16:creationId xmlns:a16="http://schemas.microsoft.com/office/drawing/2014/main" id="{F9BC698D-CD9A-B7FF-E662-00ABA127F5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3300155"/>
            <a:ext cx="16840200" cy="5119945"/>
          </a:xfrm>
          <a:prstGeom prst="rect">
            <a:avLst/>
          </a:prstGeom>
        </p:spPr>
      </p:pic>
      <p:grpSp>
        <p:nvGrpSpPr>
          <p:cNvPr id="7" name="Group 2">
            <a:extLst>
              <a:ext uri="{FF2B5EF4-FFF2-40B4-BE49-F238E27FC236}">
                <a16:creationId xmlns:a16="http://schemas.microsoft.com/office/drawing/2014/main" id="{5CF9FF13-7FB6-2A8C-4414-C64DAE6C210A}"/>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3902A0F2-01D4-56BF-32AC-0E1C9588728D}"/>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F9C7489B-0536-82D1-BC49-BDC4E8F75886}"/>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6" name="TextBox 6">
            <a:extLst>
              <a:ext uri="{FF2B5EF4-FFF2-40B4-BE49-F238E27FC236}">
                <a16:creationId xmlns:a16="http://schemas.microsoft.com/office/drawing/2014/main" id="{BC2A228A-F42A-57BE-F305-3AD3062DF838}"/>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2806433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DB203-ED57-6E7A-8EB8-FB5A69328DE4}"/>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AF032B76-39BA-F853-5733-788F45DE5B09}"/>
              </a:ext>
            </a:extLst>
          </p:cNvPr>
          <p:cNvSpPr txBox="1"/>
          <p:nvPr/>
        </p:nvSpPr>
        <p:spPr>
          <a:xfrm>
            <a:off x="-21566" y="2831235"/>
            <a:ext cx="9296400" cy="450123"/>
          </a:xfrm>
          <a:prstGeom prst="rect">
            <a:avLst/>
          </a:prstGeom>
        </p:spPr>
        <p:txBody>
          <a:bodyPr wrap="square" lIns="0" tIns="0" rIns="0" bIns="0" rtlCol="0" anchor="t">
            <a:spAutoFit/>
          </a:bodyPr>
          <a:lstStyle/>
          <a:p>
            <a:pPr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Delay time by Reason for Delay</a:t>
            </a:r>
          </a:p>
        </p:txBody>
      </p:sp>
      <p:sp>
        <p:nvSpPr>
          <p:cNvPr id="14" name="Freeform 14">
            <a:extLst>
              <a:ext uri="{FF2B5EF4-FFF2-40B4-BE49-F238E27FC236}">
                <a16:creationId xmlns:a16="http://schemas.microsoft.com/office/drawing/2014/main" id="{9ECEB256-57F7-D578-3BC9-308B6414E3A7}"/>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5D7E20A9-85A2-0C5D-C1ED-3D1218F51DF5}"/>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F7DE8980-EB2C-F5CD-8560-8D7289638263}"/>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B19EEB74-E9E3-A92D-5F5C-29562FCE888A}"/>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pic>
        <p:nvPicPr>
          <p:cNvPr id="3" name="Picture 2" descr="A graph of blue rectangular objects&#10;&#10;AI-generated content may be incorrect.">
            <a:extLst>
              <a:ext uri="{FF2B5EF4-FFF2-40B4-BE49-F238E27FC236}">
                <a16:creationId xmlns:a16="http://schemas.microsoft.com/office/drawing/2014/main" id="{49DE9AFB-CE55-0A91-0CCA-915FE9118A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0246" y="3932343"/>
            <a:ext cx="8630854" cy="5021157"/>
          </a:xfrm>
          <a:prstGeom prst="rect">
            <a:avLst/>
          </a:prstGeom>
        </p:spPr>
      </p:pic>
      <p:sp>
        <p:nvSpPr>
          <p:cNvPr id="5" name="TextBox 9">
            <a:extLst>
              <a:ext uri="{FF2B5EF4-FFF2-40B4-BE49-F238E27FC236}">
                <a16:creationId xmlns:a16="http://schemas.microsoft.com/office/drawing/2014/main" id="{A445FA5B-F76C-E79E-649A-C46BE17B8DAA}"/>
              </a:ext>
            </a:extLst>
          </p:cNvPr>
          <p:cNvSpPr txBox="1"/>
          <p:nvPr/>
        </p:nvSpPr>
        <p:spPr>
          <a:xfrm>
            <a:off x="9984486" y="2758734"/>
            <a:ext cx="7770114" cy="886140"/>
          </a:xfrm>
          <a:prstGeom prst="rect">
            <a:avLst/>
          </a:prstGeom>
        </p:spPr>
        <p:txBody>
          <a:bodyPr wrap="square" lIns="0" tIns="0" rIns="0" bIns="0" rtlCol="0" anchor="t">
            <a:spAutoFit/>
          </a:bodyPr>
          <a:lstStyle/>
          <a:p>
            <a:pPr marL="0" lvl="0" indent="0"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Average price in the First class vs standard</a:t>
            </a:r>
          </a:p>
        </p:txBody>
      </p:sp>
      <p:pic>
        <p:nvPicPr>
          <p:cNvPr id="8" name="Picture 7" descr="A screen shot of a graph&#10;&#10;AI-generated content may be incorrect.">
            <a:extLst>
              <a:ext uri="{FF2B5EF4-FFF2-40B4-BE49-F238E27FC236}">
                <a16:creationId xmlns:a16="http://schemas.microsoft.com/office/drawing/2014/main" id="{DBB18B09-9963-8318-0429-48D2B0E7F4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9583" y="3894243"/>
            <a:ext cx="8745170" cy="5287857"/>
          </a:xfrm>
          <a:prstGeom prst="rect">
            <a:avLst/>
          </a:prstGeom>
        </p:spPr>
      </p:pic>
      <p:sp>
        <p:nvSpPr>
          <p:cNvPr id="13" name="TextBox 6">
            <a:extLst>
              <a:ext uri="{FF2B5EF4-FFF2-40B4-BE49-F238E27FC236}">
                <a16:creationId xmlns:a16="http://schemas.microsoft.com/office/drawing/2014/main" id="{07EB7A35-7BE3-B946-2339-2043A71C4688}"/>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1977469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8ACC8-1DB5-9D7F-0B8D-954926097FD1}"/>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28B900B4-42DC-C9E5-1F97-AA9706AD9205}"/>
              </a:ext>
            </a:extLst>
          </p:cNvPr>
          <p:cNvSpPr txBox="1"/>
          <p:nvPr/>
        </p:nvSpPr>
        <p:spPr>
          <a:xfrm>
            <a:off x="838200" y="2247900"/>
            <a:ext cx="15925800" cy="886140"/>
          </a:xfrm>
          <a:prstGeom prst="rect">
            <a:avLst/>
          </a:prstGeom>
        </p:spPr>
        <p:txBody>
          <a:bodyPr wrap="square" lIns="0" tIns="0" rIns="0" bIns="0" rtlCol="0" anchor="t">
            <a:spAutoFit/>
          </a:bodyPr>
          <a:lstStyle/>
          <a:p>
            <a:pPr marL="0" lvl="0" indent="0"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Average price for the </a:t>
            </a:r>
            <a:r>
              <a:rPr lang="en-US" sz="4000" dirty="0" err="1">
                <a:solidFill>
                  <a:srgbClr val="0F4662"/>
                </a:solidFill>
                <a:latin typeface="Times New Roman" panose="02020603050405020304" pitchFamily="18" charset="0"/>
                <a:cs typeface="Times New Roman" panose="02020603050405020304" pitchFamily="18" charset="0"/>
                <a:sym typeface="Quicksand"/>
              </a:rPr>
              <a:t>highest_traffic</a:t>
            </a:r>
            <a:r>
              <a:rPr lang="en-US" sz="4000" dirty="0">
                <a:solidFill>
                  <a:srgbClr val="0F4662"/>
                </a:solidFill>
                <a:latin typeface="Times New Roman" panose="02020603050405020304" pitchFamily="18" charset="0"/>
                <a:cs typeface="Times New Roman" panose="02020603050405020304" pitchFamily="18" charset="0"/>
                <a:sym typeface="Quicksand"/>
              </a:rPr>
              <a:t> arrival destinations vs for the </a:t>
            </a:r>
            <a:r>
              <a:rPr lang="en-US" sz="4000" dirty="0" err="1">
                <a:solidFill>
                  <a:srgbClr val="0F4662"/>
                </a:solidFill>
                <a:latin typeface="Times New Roman" panose="02020603050405020304" pitchFamily="18" charset="0"/>
                <a:cs typeface="Times New Roman" panose="02020603050405020304" pitchFamily="18" charset="0"/>
                <a:sym typeface="Quicksand"/>
              </a:rPr>
              <a:t>lowest_traffic</a:t>
            </a:r>
            <a:endParaRPr lang="en-US" sz="4000" dirty="0">
              <a:solidFill>
                <a:srgbClr val="0F4662"/>
              </a:solidFill>
              <a:latin typeface="Times New Roman" panose="02020603050405020304" pitchFamily="18" charset="0"/>
              <a:cs typeface="Times New Roman" panose="02020603050405020304" pitchFamily="18" charset="0"/>
              <a:sym typeface="Quicksand"/>
            </a:endParaRPr>
          </a:p>
        </p:txBody>
      </p:sp>
      <p:sp>
        <p:nvSpPr>
          <p:cNvPr id="14" name="Freeform 14">
            <a:extLst>
              <a:ext uri="{FF2B5EF4-FFF2-40B4-BE49-F238E27FC236}">
                <a16:creationId xmlns:a16="http://schemas.microsoft.com/office/drawing/2014/main" id="{6132FFCA-0C09-D006-2FFA-82AD52430340}"/>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111D6D96-0116-F38A-45C1-0ADBB1C903D1}"/>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BEF165F8-915A-24F1-AB46-6FDC90EC6A0D}"/>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6E0F3C29-7AA8-5C04-3398-1D7E97C1F052}"/>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pic>
        <p:nvPicPr>
          <p:cNvPr id="3" name="Picture 2" descr="A comparison of a graph&#10;&#10;AI-generated content may be incorrect.">
            <a:extLst>
              <a:ext uri="{FF2B5EF4-FFF2-40B4-BE49-F238E27FC236}">
                <a16:creationId xmlns:a16="http://schemas.microsoft.com/office/drawing/2014/main" id="{D7B116A1-6706-1FDA-E25C-2DF7249AED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4384" y="3523620"/>
            <a:ext cx="16577816" cy="5277480"/>
          </a:xfrm>
          <a:prstGeom prst="rect">
            <a:avLst/>
          </a:prstGeom>
        </p:spPr>
      </p:pic>
      <p:sp>
        <p:nvSpPr>
          <p:cNvPr id="5" name="TextBox 6">
            <a:extLst>
              <a:ext uri="{FF2B5EF4-FFF2-40B4-BE49-F238E27FC236}">
                <a16:creationId xmlns:a16="http://schemas.microsoft.com/office/drawing/2014/main" id="{24B9C2BD-1800-0566-12F6-3D2C7F0270EE}"/>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1144304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750D0-B749-835D-9D96-9AA3824178E4}"/>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8104B5DF-66D8-8D0F-F598-B77CD9B2E678}"/>
              </a:ext>
            </a:extLst>
          </p:cNvPr>
          <p:cNvSpPr txBox="1"/>
          <p:nvPr/>
        </p:nvSpPr>
        <p:spPr>
          <a:xfrm>
            <a:off x="838200" y="2247900"/>
            <a:ext cx="15925800" cy="450123"/>
          </a:xfrm>
          <a:prstGeom prst="rect">
            <a:avLst/>
          </a:prstGeom>
        </p:spPr>
        <p:txBody>
          <a:bodyPr wrap="square" lIns="0" tIns="0" rIns="0" bIns="0" rtlCol="0" anchor="t">
            <a:spAutoFit/>
          </a:bodyPr>
          <a:lstStyle/>
          <a:p>
            <a:pPr marL="0" lvl="0" indent="0"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Traffic trend over the months</a:t>
            </a:r>
          </a:p>
        </p:txBody>
      </p:sp>
      <p:sp>
        <p:nvSpPr>
          <p:cNvPr id="14" name="Freeform 14">
            <a:extLst>
              <a:ext uri="{FF2B5EF4-FFF2-40B4-BE49-F238E27FC236}">
                <a16:creationId xmlns:a16="http://schemas.microsoft.com/office/drawing/2014/main" id="{CB7FFC74-6397-68E8-53EF-75EFBF7F4207}"/>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7E771EB3-34F4-0063-50DE-CF57EE5D1141}"/>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D516E52E-9616-E6A6-90C2-002F4142F4EA}"/>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3E77663F-8F59-82A5-4EB5-3E41A5D369E8}"/>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pic>
        <p:nvPicPr>
          <p:cNvPr id="3" name="Picture 2" descr="A graph with a line&#10;&#10;AI-generated content may be incorrect.">
            <a:extLst>
              <a:ext uri="{FF2B5EF4-FFF2-40B4-BE49-F238E27FC236}">
                <a16:creationId xmlns:a16="http://schemas.microsoft.com/office/drawing/2014/main" id="{DA8C19B3-2291-8033-E5E5-E5885C2D8B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1" y="3046812"/>
            <a:ext cx="17145000" cy="5525688"/>
          </a:xfrm>
          <a:prstGeom prst="rect">
            <a:avLst/>
          </a:prstGeom>
        </p:spPr>
      </p:pic>
      <p:sp>
        <p:nvSpPr>
          <p:cNvPr id="5" name="TextBox 6">
            <a:extLst>
              <a:ext uri="{FF2B5EF4-FFF2-40B4-BE49-F238E27FC236}">
                <a16:creationId xmlns:a16="http://schemas.microsoft.com/office/drawing/2014/main" id="{2D1C67D8-F59F-7322-23F3-59AF377D9669}"/>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2460433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DD903-7C6A-7568-4B50-0E61409BEA83}"/>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6790E87D-7EE0-AA3F-EFC9-5B178FE2593A}"/>
              </a:ext>
            </a:extLst>
          </p:cNvPr>
          <p:cNvSpPr txBox="1"/>
          <p:nvPr/>
        </p:nvSpPr>
        <p:spPr>
          <a:xfrm>
            <a:off x="838200" y="2247900"/>
            <a:ext cx="15925800" cy="886140"/>
          </a:xfrm>
          <a:prstGeom prst="rect">
            <a:avLst/>
          </a:prstGeom>
        </p:spPr>
        <p:txBody>
          <a:bodyPr wrap="square" lIns="0" tIns="0" rIns="0" bIns="0" rtlCol="0" anchor="t">
            <a:spAutoFit/>
          </a:bodyPr>
          <a:lstStyle/>
          <a:p>
            <a:pPr marL="0" lvl="0" indent="0" algn="ctr">
              <a:lnSpc>
                <a:spcPts val="3359"/>
              </a:lnSpc>
              <a:spcBef>
                <a:spcPct val="0"/>
              </a:spcBef>
            </a:pPr>
            <a:r>
              <a:rPr lang="en-US" sz="4000" dirty="0">
                <a:solidFill>
                  <a:srgbClr val="0F4662"/>
                </a:solidFill>
                <a:latin typeface="Times New Roman" panose="02020603050405020304" pitchFamily="18" charset="0"/>
                <a:cs typeface="Times New Roman" panose="02020603050405020304" pitchFamily="18" charset="0"/>
                <a:sym typeface="Quicksand"/>
              </a:rPr>
              <a:t>How does ticket class vary across departure stations, and which stations contribute highest revenue?</a:t>
            </a:r>
          </a:p>
        </p:txBody>
      </p:sp>
      <p:sp>
        <p:nvSpPr>
          <p:cNvPr id="14" name="Freeform 14">
            <a:extLst>
              <a:ext uri="{FF2B5EF4-FFF2-40B4-BE49-F238E27FC236}">
                <a16:creationId xmlns:a16="http://schemas.microsoft.com/office/drawing/2014/main" id="{92B1D5D5-0207-65D7-AEC9-86E70EF5A0BC}"/>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2A198E30-C68E-98E1-7A8C-D9FFD653FECB}"/>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6A82FC5B-8A20-2D61-A5A3-60F3B619092E}"/>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AE3D02DB-4817-E9D3-585D-3A6823F274EC}"/>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pic>
        <p:nvPicPr>
          <p:cNvPr id="3" name="Picture 2" descr="A screenshot of a graph&#10;&#10;AI-generated content may be incorrect.">
            <a:extLst>
              <a:ext uri="{FF2B5EF4-FFF2-40B4-BE49-F238E27FC236}">
                <a16:creationId xmlns:a16="http://schemas.microsoft.com/office/drawing/2014/main" id="{64427D1B-8B14-BB7A-5959-9D9A85A25E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4384" y="3624050"/>
            <a:ext cx="16273016" cy="4796050"/>
          </a:xfrm>
          <a:prstGeom prst="rect">
            <a:avLst/>
          </a:prstGeom>
        </p:spPr>
      </p:pic>
      <p:sp>
        <p:nvSpPr>
          <p:cNvPr id="5" name="TextBox 6">
            <a:extLst>
              <a:ext uri="{FF2B5EF4-FFF2-40B4-BE49-F238E27FC236}">
                <a16:creationId xmlns:a16="http://schemas.microsoft.com/office/drawing/2014/main" id="{E8A26FF1-8AB2-4EFC-0000-74504EE94605}"/>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635084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CF9E-802B-A74E-A62A-DBFE619F4295}"/>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F73E4FBE-B49B-77ED-B677-C91EA57A0A97}"/>
              </a:ext>
            </a:extLst>
          </p:cNvPr>
          <p:cNvSpPr txBox="1"/>
          <p:nvPr/>
        </p:nvSpPr>
        <p:spPr>
          <a:xfrm>
            <a:off x="18691" y="2382181"/>
            <a:ext cx="4724400" cy="447238"/>
          </a:xfrm>
          <a:prstGeom prst="rect">
            <a:avLst/>
          </a:prstGeom>
        </p:spPr>
        <p:txBody>
          <a:bodyPr wrap="square" lIns="0" tIns="0" rIns="0" bIns="0" rtlCol="0" anchor="t">
            <a:spAutoFit/>
          </a:bodyPr>
          <a:lstStyle/>
          <a:p>
            <a:pPr marL="0" lvl="0" indent="0" algn="ctr">
              <a:lnSpc>
                <a:spcPts val="3359"/>
              </a:lnSpc>
              <a:spcBef>
                <a:spcPct val="0"/>
              </a:spcBef>
            </a:pPr>
            <a:r>
              <a:rPr lang="en-US" sz="4000" b="1" dirty="0">
                <a:solidFill>
                  <a:srgbClr val="0F4662"/>
                </a:solidFill>
                <a:latin typeface="Times New Roman" panose="02020603050405020304" pitchFamily="18" charset="0"/>
                <a:cs typeface="Times New Roman" panose="02020603050405020304" pitchFamily="18" charset="0"/>
                <a:sym typeface="Quicksand"/>
              </a:rPr>
              <a:t>Price Distribution</a:t>
            </a:r>
          </a:p>
        </p:txBody>
      </p:sp>
      <p:sp>
        <p:nvSpPr>
          <p:cNvPr id="14" name="Freeform 14">
            <a:extLst>
              <a:ext uri="{FF2B5EF4-FFF2-40B4-BE49-F238E27FC236}">
                <a16:creationId xmlns:a16="http://schemas.microsoft.com/office/drawing/2014/main" id="{780D419F-E94D-7E96-4822-DAFFB74B0607}"/>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65B4E7F9-9042-419C-BC66-82C28F361AF9}"/>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3DC66553-0AC4-82D5-726A-575CD1AC0983}"/>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2C51EA68-0A75-D754-DAC6-4E1D8FD84953}"/>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2" name="TextBox 9">
            <a:extLst>
              <a:ext uri="{FF2B5EF4-FFF2-40B4-BE49-F238E27FC236}">
                <a16:creationId xmlns:a16="http://schemas.microsoft.com/office/drawing/2014/main" id="{16C6ED91-A55B-6A0B-6854-1CE47C78FCCD}"/>
              </a:ext>
            </a:extLst>
          </p:cNvPr>
          <p:cNvSpPr txBox="1"/>
          <p:nvPr/>
        </p:nvSpPr>
        <p:spPr>
          <a:xfrm>
            <a:off x="9753600" y="2429530"/>
            <a:ext cx="7086600" cy="872034"/>
          </a:xfrm>
          <a:prstGeom prst="rect">
            <a:avLst/>
          </a:prstGeom>
        </p:spPr>
        <p:txBody>
          <a:bodyPr wrap="square" lIns="0" tIns="0" rIns="0" bIns="0" rtlCol="0" anchor="t">
            <a:spAutoFit/>
          </a:bodyPr>
          <a:lstStyle/>
          <a:p>
            <a:pPr marL="0" lvl="0" indent="0" algn="ctr">
              <a:lnSpc>
                <a:spcPts val="3359"/>
              </a:lnSpc>
              <a:spcBef>
                <a:spcPct val="0"/>
              </a:spcBef>
            </a:pPr>
            <a:r>
              <a:rPr lang="en-US" sz="4000" b="1" dirty="0">
                <a:solidFill>
                  <a:srgbClr val="0F4662"/>
                </a:solidFill>
                <a:latin typeface="Times New Roman" panose="02020603050405020304" pitchFamily="18" charset="0"/>
                <a:cs typeface="Times New Roman" panose="02020603050405020304" pitchFamily="18" charset="0"/>
                <a:sym typeface="Quicksand"/>
              </a:rPr>
              <a:t>Log Transformation:</a:t>
            </a:r>
          </a:p>
          <a:p>
            <a:pPr marL="0" lvl="0" indent="0" algn="ctr">
              <a:lnSpc>
                <a:spcPts val="3359"/>
              </a:lnSpc>
              <a:spcBef>
                <a:spcPct val="0"/>
              </a:spcBef>
            </a:pPr>
            <a:r>
              <a:rPr lang="en-US" sz="3000" dirty="0">
                <a:solidFill>
                  <a:srgbClr val="0F4662"/>
                </a:solidFill>
                <a:latin typeface="Times New Roman" panose="02020603050405020304" pitchFamily="18" charset="0"/>
                <a:cs typeface="Times New Roman" panose="02020603050405020304" pitchFamily="18" charset="0"/>
                <a:sym typeface="Quicksand"/>
              </a:rPr>
              <a:t>Applied to reduce effect of outlier on models</a:t>
            </a:r>
          </a:p>
        </p:txBody>
      </p:sp>
      <p:pic>
        <p:nvPicPr>
          <p:cNvPr id="5" name="Picture 4" descr="A graph with a blue bar&#10;&#10;AI-generated content may be incorrect.">
            <a:extLst>
              <a:ext uri="{FF2B5EF4-FFF2-40B4-BE49-F238E27FC236}">
                <a16:creationId xmlns:a16="http://schemas.microsoft.com/office/drawing/2014/main" id="{DB5668ED-4237-6388-E262-C756A5DFF9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19" y="2995564"/>
            <a:ext cx="6973381" cy="5603851"/>
          </a:xfrm>
          <a:prstGeom prst="rect">
            <a:avLst/>
          </a:prstGeom>
        </p:spPr>
      </p:pic>
      <p:pic>
        <p:nvPicPr>
          <p:cNvPr id="8" name="Picture 7">
            <a:extLst>
              <a:ext uri="{FF2B5EF4-FFF2-40B4-BE49-F238E27FC236}">
                <a16:creationId xmlns:a16="http://schemas.microsoft.com/office/drawing/2014/main" id="{028887A3-FCD8-CC55-42FA-2038DAE70F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01200" y="3543300"/>
            <a:ext cx="8382000" cy="4876800"/>
          </a:xfrm>
          <a:prstGeom prst="rect">
            <a:avLst/>
          </a:prstGeom>
        </p:spPr>
      </p:pic>
      <p:sp>
        <p:nvSpPr>
          <p:cNvPr id="13" name="TextBox 6">
            <a:extLst>
              <a:ext uri="{FF2B5EF4-FFF2-40B4-BE49-F238E27FC236}">
                <a16:creationId xmlns:a16="http://schemas.microsoft.com/office/drawing/2014/main" id="{DDDF73D9-171F-12A6-C0F7-B4F1E76A8C17}"/>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UK Train Analysis</a:t>
            </a:r>
          </a:p>
        </p:txBody>
      </p:sp>
    </p:spTree>
    <p:extLst>
      <p:ext uri="{BB962C8B-B14F-4D97-AF65-F5344CB8AC3E}">
        <p14:creationId xmlns:p14="http://schemas.microsoft.com/office/powerpoint/2010/main" val="402891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FD6A-8CA6-6107-6F38-E3D75CEB0FF9}"/>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924D034E-75DA-21EF-2D8A-CDF3381C86FC}"/>
              </a:ext>
            </a:extLst>
          </p:cNvPr>
          <p:cNvSpPr txBox="1"/>
          <p:nvPr/>
        </p:nvSpPr>
        <p:spPr>
          <a:xfrm>
            <a:off x="152401" y="3104251"/>
            <a:ext cx="4800600" cy="6076472"/>
          </a:xfrm>
          <a:prstGeom prst="rect">
            <a:avLst/>
          </a:prstGeom>
        </p:spPr>
        <p:txBody>
          <a:bodyPr wrap="square" lIns="0" tIns="0" rIns="0" bIns="0" rtlCol="0" anchor="t">
            <a:spAutoFit/>
          </a:bodyPr>
          <a:lstStyle/>
          <a:p>
            <a:pPr lvl="0">
              <a:lnSpc>
                <a:spcPts val="3359"/>
              </a:lnSpc>
              <a:spcBef>
                <a:spcPct val="0"/>
              </a:spcBef>
            </a:pPr>
            <a:r>
              <a:rPr lang="en-US" sz="3000" i="1" dirty="0">
                <a:solidFill>
                  <a:srgbClr val="0F4662"/>
                </a:solidFill>
                <a:cs typeface="Times New Roman" panose="02020603050405020304" pitchFamily="18" charset="0"/>
              </a:rPr>
              <a:t>Applied Label Encoding to convert categorical columns into numeric format</a:t>
            </a:r>
          </a:p>
          <a:p>
            <a:pPr lvl="0" indent="0">
              <a:lnSpc>
                <a:spcPts val="3359"/>
              </a:lnSpc>
              <a:spcBef>
                <a:spcPct val="0"/>
              </a:spcBef>
            </a:pPr>
            <a:endParaRPr lang="en-US" sz="3000" b="1" i="1" dirty="0">
              <a:solidFill>
                <a:srgbClr val="0F4662"/>
              </a:solidFill>
              <a:cs typeface="Times New Roman" panose="02020603050405020304" pitchFamily="18" charset="0"/>
            </a:endParaRPr>
          </a:p>
          <a:p>
            <a:pPr lvl="0" indent="0">
              <a:lnSpc>
                <a:spcPts val="3359"/>
              </a:lnSpc>
              <a:spcBef>
                <a:spcPct val="0"/>
              </a:spcBef>
            </a:pPr>
            <a:r>
              <a:rPr lang="en-US" sz="3000" b="1" i="1" dirty="0">
                <a:solidFill>
                  <a:srgbClr val="0F4662"/>
                </a:solidFill>
                <a:cs typeface="Times New Roman" panose="02020603050405020304" pitchFamily="18" charset="0"/>
              </a:rPr>
              <a:t>Columns encoded:</a:t>
            </a:r>
          </a:p>
          <a:p>
            <a:pPr lvl="0" indent="0">
              <a:lnSpc>
                <a:spcPts val="3359"/>
              </a:lnSpc>
              <a:spcBef>
                <a:spcPct val="0"/>
              </a:spcBef>
            </a:pPr>
            <a:endParaRPr lang="en-US" sz="3000" b="1" i="1" dirty="0">
              <a:solidFill>
                <a:srgbClr val="0F4662"/>
              </a:solidFill>
              <a:cs typeface="Times New Roman" panose="02020603050405020304" pitchFamily="18" charset="0"/>
            </a:endParaRPr>
          </a:p>
          <a:p>
            <a:pPr lvl="0">
              <a:lnSpc>
                <a:spcPts val="3359"/>
              </a:lnSpc>
              <a:spcBef>
                <a:spcPct val="0"/>
              </a:spcBef>
            </a:pPr>
            <a:r>
              <a:rPr lang="en-US" sz="3000" i="1" dirty="0">
                <a:solidFill>
                  <a:srgbClr val="0F4662"/>
                </a:solidFill>
                <a:cs typeface="Times New Roman" panose="02020603050405020304" pitchFamily="18" charset="0"/>
              </a:rPr>
              <a:t>Purchase Type, Payment Method, </a:t>
            </a:r>
            <a:r>
              <a:rPr lang="en-US" sz="3000" i="1" dirty="0" err="1">
                <a:solidFill>
                  <a:srgbClr val="0F4662"/>
                </a:solidFill>
                <a:cs typeface="Times New Roman" panose="02020603050405020304" pitchFamily="18" charset="0"/>
              </a:rPr>
              <a:t>Railcard</a:t>
            </a:r>
            <a:r>
              <a:rPr lang="en-US" sz="3000" i="1" dirty="0">
                <a:solidFill>
                  <a:srgbClr val="0F4662"/>
                </a:solidFill>
                <a:cs typeface="Times New Roman" panose="02020603050405020304" pitchFamily="18" charset="0"/>
              </a:rPr>
              <a:t>, Ticket Class, Ticket Type, Departure station, Arrival destination, Journey Status, Reason for delay, Refund request</a:t>
            </a:r>
          </a:p>
          <a:p>
            <a:pPr marL="0" lvl="0" indent="0">
              <a:lnSpc>
                <a:spcPts val="3359"/>
              </a:lnSpc>
              <a:spcBef>
                <a:spcPct val="0"/>
              </a:spcBef>
            </a:pPr>
            <a:endParaRPr lang="en-US" sz="2400" dirty="0"/>
          </a:p>
          <a:p>
            <a:pPr marL="0" lvl="0" indent="0">
              <a:lnSpc>
                <a:spcPts val="3359"/>
              </a:lnSpc>
              <a:spcBef>
                <a:spcPct val="0"/>
              </a:spcBef>
            </a:pPr>
            <a:endParaRPr lang="en-US" sz="2400" dirty="0">
              <a:solidFill>
                <a:srgbClr val="0F4662"/>
              </a:solidFill>
              <a:ea typeface="Quicksand"/>
              <a:cs typeface="Quicksand"/>
              <a:sym typeface="Quicksand"/>
            </a:endParaRPr>
          </a:p>
        </p:txBody>
      </p:sp>
      <p:sp>
        <p:nvSpPr>
          <p:cNvPr id="8" name="TextBox 8">
            <a:extLst>
              <a:ext uri="{FF2B5EF4-FFF2-40B4-BE49-F238E27FC236}">
                <a16:creationId xmlns:a16="http://schemas.microsoft.com/office/drawing/2014/main" id="{24544395-475C-FD88-B463-375CF43E77CB}"/>
              </a:ext>
            </a:extLst>
          </p:cNvPr>
          <p:cNvSpPr txBox="1"/>
          <p:nvPr/>
        </p:nvSpPr>
        <p:spPr>
          <a:xfrm>
            <a:off x="152399" y="2357271"/>
            <a:ext cx="5348229" cy="450123"/>
          </a:xfrm>
          <a:prstGeom prst="rect">
            <a:avLst/>
          </a:prstGeom>
        </p:spPr>
        <p:txBody>
          <a:bodyPr lIns="0" tIns="0" rIns="0" bIns="0" rtlCol="0" anchor="t">
            <a:spAutoFit/>
          </a:bodyPr>
          <a:lstStyle/>
          <a:p>
            <a:pPr>
              <a:lnSpc>
                <a:spcPts val="335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sym typeface="Quicksand Bold"/>
              </a:rPr>
              <a:t>Label Encoding</a:t>
            </a:r>
          </a:p>
        </p:txBody>
      </p:sp>
      <p:sp>
        <p:nvSpPr>
          <p:cNvPr id="13" name="Freeform 13">
            <a:extLst>
              <a:ext uri="{FF2B5EF4-FFF2-40B4-BE49-F238E27FC236}">
                <a16:creationId xmlns:a16="http://schemas.microsoft.com/office/drawing/2014/main" id="{7BFE307E-4FC2-57AF-7B7D-9F2722338D5E}"/>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7CF90B8A-2124-D09A-55C3-0737427CC166}"/>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5" name="Group 2">
            <a:extLst>
              <a:ext uri="{FF2B5EF4-FFF2-40B4-BE49-F238E27FC236}">
                <a16:creationId xmlns:a16="http://schemas.microsoft.com/office/drawing/2014/main" id="{7CA82413-F2D5-C859-5319-6FE2A19925B7}"/>
              </a:ext>
            </a:extLst>
          </p:cNvPr>
          <p:cNvGrpSpPr/>
          <p:nvPr/>
        </p:nvGrpSpPr>
        <p:grpSpPr>
          <a:xfrm>
            <a:off x="0" y="10816"/>
            <a:ext cx="18288000" cy="1943099"/>
            <a:chOff x="0" y="0"/>
            <a:chExt cx="4816593" cy="1079700"/>
          </a:xfrm>
        </p:grpSpPr>
        <p:sp>
          <p:nvSpPr>
            <p:cNvPr id="16" name="Freeform 3">
              <a:extLst>
                <a:ext uri="{FF2B5EF4-FFF2-40B4-BE49-F238E27FC236}">
                  <a16:creationId xmlns:a16="http://schemas.microsoft.com/office/drawing/2014/main" id="{577624DF-F2B7-A2BE-CB2A-F64B471D68FF}"/>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7" name="TextBox 4">
              <a:extLst>
                <a:ext uri="{FF2B5EF4-FFF2-40B4-BE49-F238E27FC236}">
                  <a16:creationId xmlns:a16="http://schemas.microsoft.com/office/drawing/2014/main" id="{03B8ADDA-1CB7-5C70-5350-6A7E1383DBC9}"/>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8" name="TextBox 6">
            <a:extLst>
              <a:ext uri="{FF2B5EF4-FFF2-40B4-BE49-F238E27FC236}">
                <a16:creationId xmlns:a16="http://schemas.microsoft.com/office/drawing/2014/main" id="{17A05166-5898-B2CB-714C-C97EFD1DBF88}"/>
              </a:ext>
            </a:extLst>
          </p:cNvPr>
          <p:cNvSpPr txBox="1"/>
          <p:nvPr/>
        </p:nvSpPr>
        <p:spPr>
          <a:xfrm>
            <a:off x="381000" y="451303"/>
            <a:ext cx="14496196" cy="1099019"/>
          </a:xfrm>
          <a:prstGeom prst="rect">
            <a:avLst/>
          </a:prstGeom>
        </p:spPr>
        <p:txBody>
          <a:bodyPr wrap="square"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Feature Encoding</a:t>
            </a:r>
          </a:p>
        </p:txBody>
      </p:sp>
      <p:pic>
        <p:nvPicPr>
          <p:cNvPr id="24" name="Picture 23" descr="A screenshot of a computer program&#10;&#10;AI-generated content may be incorrect.">
            <a:extLst>
              <a:ext uri="{FF2B5EF4-FFF2-40B4-BE49-F238E27FC236}">
                <a16:creationId xmlns:a16="http://schemas.microsoft.com/office/drawing/2014/main" id="{AED2846F-3109-456A-BA68-4F9A9C574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7400" y="2030279"/>
            <a:ext cx="6039555" cy="7499444"/>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88D6B21C-6CB9-4593-CF2A-8C3B8A85C0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38585" y="1953915"/>
            <a:ext cx="6228644" cy="7531723"/>
          </a:xfrm>
          <a:prstGeom prst="rect">
            <a:avLst/>
          </a:prstGeom>
        </p:spPr>
      </p:pic>
    </p:spTree>
    <p:extLst>
      <p:ext uri="{BB962C8B-B14F-4D97-AF65-F5344CB8AC3E}">
        <p14:creationId xmlns:p14="http://schemas.microsoft.com/office/powerpoint/2010/main" val="4259849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4D45A-6E85-90FE-723C-DE3040EA09D4}"/>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20A9AC29-BEE7-0263-3B0A-EEF4AA8B3FFA}"/>
              </a:ext>
            </a:extLst>
          </p:cNvPr>
          <p:cNvSpPr txBox="1"/>
          <p:nvPr/>
        </p:nvSpPr>
        <p:spPr>
          <a:xfrm>
            <a:off x="179716" y="3480231"/>
            <a:ext cx="4800600" cy="436017"/>
          </a:xfrm>
          <a:prstGeom prst="rect">
            <a:avLst/>
          </a:prstGeom>
        </p:spPr>
        <p:txBody>
          <a:bodyPr wrap="square" lIns="0" tIns="0" rIns="0" bIns="0" rtlCol="0" anchor="t">
            <a:spAutoFit/>
          </a:bodyPr>
          <a:lstStyle/>
          <a:p>
            <a:pPr marL="0" lvl="0" indent="0">
              <a:lnSpc>
                <a:spcPts val="3359"/>
              </a:lnSpc>
              <a:spcBef>
                <a:spcPct val="0"/>
              </a:spcBef>
            </a:pPr>
            <a:r>
              <a:rPr lang="en-US" sz="3000" b="1" i="1" dirty="0">
                <a:solidFill>
                  <a:srgbClr val="0F4662"/>
                </a:solidFill>
                <a:cs typeface="Times New Roman" panose="02020603050405020304" pitchFamily="18" charset="0"/>
              </a:rPr>
              <a:t>1.Model Preparation</a:t>
            </a:r>
            <a:endParaRPr lang="en-US" sz="3000" b="1" i="1" dirty="0">
              <a:solidFill>
                <a:srgbClr val="0F4662"/>
              </a:solidFill>
              <a:cs typeface="Times New Roman" panose="02020603050405020304" pitchFamily="18" charset="0"/>
              <a:sym typeface="Quicksand"/>
            </a:endParaRPr>
          </a:p>
        </p:txBody>
      </p:sp>
      <p:sp>
        <p:nvSpPr>
          <p:cNvPr id="8" name="TextBox 8">
            <a:extLst>
              <a:ext uri="{FF2B5EF4-FFF2-40B4-BE49-F238E27FC236}">
                <a16:creationId xmlns:a16="http://schemas.microsoft.com/office/drawing/2014/main" id="{17267AB5-D002-DC06-EFD2-90D007B181D2}"/>
              </a:ext>
            </a:extLst>
          </p:cNvPr>
          <p:cNvSpPr txBox="1"/>
          <p:nvPr/>
        </p:nvSpPr>
        <p:spPr>
          <a:xfrm>
            <a:off x="152399" y="2357271"/>
            <a:ext cx="8000999" cy="1008033"/>
          </a:xfrm>
          <a:prstGeom prst="rect">
            <a:avLst/>
          </a:prstGeom>
        </p:spPr>
        <p:txBody>
          <a:bodyPr wrap="square" lIns="0" tIns="0" rIns="0" bIns="0" rtlCol="0" anchor="t">
            <a:spAutoFit/>
          </a:bodyPr>
          <a:lstStyle/>
          <a:p>
            <a:pPr marL="0" lvl="0" indent="0">
              <a:lnSpc>
                <a:spcPts val="391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Revenue Forecasting with Random Forest</a:t>
            </a:r>
            <a:endParaRPr lang="en-US" sz="4000" b="1" i="1" dirty="0">
              <a:solidFill>
                <a:srgbClr val="0F4662"/>
              </a:solidFill>
              <a:latin typeface="Times New Roman" panose="02020603050405020304" pitchFamily="18" charset="0"/>
              <a:cs typeface="Times New Roman" panose="02020603050405020304" pitchFamily="18" charset="0"/>
              <a:sym typeface="Quicksand Bold"/>
            </a:endParaRPr>
          </a:p>
        </p:txBody>
      </p:sp>
      <p:sp>
        <p:nvSpPr>
          <p:cNvPr id="13" name="Freeform 13">
            <a:extLst>
              <a:ext uri="{FF2B5EF4-FFF2-40B4-BE49-F238E27FC236}">
                <a16:creationId xmlns:a16="http://schemas.microsoft.com/office/drawing/2014/main" id="{884C1ED2-5CF3-84FB-867A-196E90EAB20F}"/>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B3AB92C3-E2BB-6F7A-B459-9D608D4CB872}"/>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5" name="Group 2">
            <a:extLst>
              <a:ext uri="{FF2B5EF4-FFF2-40B4-BE49-F238E27FC236}">
                <a16:creationId xmlns:a16="http://schemas.microsoft.com/office/drawing/2014/main" id="{9B932DF6-7F3B-83FC-4488-74449EABC7DC}"/>
              </a:ext>
            </a:extLst>
          </p:cNvPr>
          <p:cNvGrpSpPr/>
          <p:nvPr/>
        </p:nvGrpSpPr>
        <p:grpSpPr>
          <a:xfrm>
            <a:off x="0" y="10816"/>
            <a:ext cx="18288000" cy="1943099"/>
            <a:chOff x="0" y="0"/>
            <a:chExt cx="4816593" cy="1079700"/>
          </a:xfrm>
        </p:grpSpPr>
        <p:sp>
          <p:nvSpPr>
            <p:cNvPr id="16" name="Freeform 3">
              <a:extLst>
                <a:ext uri="{FF2B5EF4-FFF2-40B4-BE49-F238E27FC236}">
                  <a16:creationId xmlns:a16="http://schemas.microsoft.com/office/drawing/2014/main" id="{39252C1F-6A8D-6267-F69D-C5F8B77F4839}"/>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7" name="TextBox 4">
              <a:extLst>
                <a:ext uri="{FF2B5EF4-FFF2-40B4-BE49-F238E27FC236}">
                  <a16:creationId xmlns:a16="http://schemas.microsoft.com/office/drawing/2014/main" id="{91F0297C-E150-AF6D-6DFC-DB15ECCA78AC}"/>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8" name="TextBox 6">
            <a:extLst>
              <a:ext uri="{FF2B5EF4-FFF2-40B4-BE49-F238E27FC236}">
                <a16:creationId xmlns:a16="http://schemas.microsoft.com/office/drawing/2014/main" id="{8055BC7B-248E-9222-1F5B-8EE3643E8F33}"/>
              </a:ext>
            </a:extLst>
          </p:cNvPr>
          <p:cNvSpPr txBox="1"/>
          <p:nvPr/>
        </p:nvSpPr>
        <p:spPr>
          <a:xfrm>
            <a:off x="381000" y="451303"/>
            <a:ext cx="14496196" cy="1099019"/>
          </a:xfrm>
          <a:prstGeom prst="rect">
            <a:avLst/>
          </a:prstGeom>
        </p:spPr>
        <p:txBody>
          <a:bodyPr wrap="square" lIns="0" tIns="0" rIns="0" bIns="0" rtlCol="0" anchor="t">
            <a:spAutoFit/>
          </a:bodyPr>
          <a:lstStyle/>
          <a:p>
            <a:pPr>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Forecasting</a:t>
            </a:r>
          </a:p>
        </p:txBody>
      </p:sp>
      <p:sp>
        <p:nvSpPr>
          <p:cNvPr id="9" name="TextBox 7">
            <a:extLst>
              <a:ext uri="{FF2B5EF4-FFF2-40B4-BE49-F238E27FC236}">
                <a16:creationId xmlns:a16="http://schemas.microsoft.com/office/drawing/2014/main" id="{C4B70637-EE27-FF21-C657-957F33CDF4AA}"/>
              </a:ext>
            </a:extLst>
          </p:cNvPr>
          <p:cNvSpPr txBox="1"/>
          <p:nvPr/>
        </p:nvSpPr>
        <p:spPr>
          <a:xfrm>
            <a:off x="179716" y="3985469"/>
            <a:ext cx="4800600" cy="2588337"/>
          </a:xfrm>
          <a:prstGeom prst="rect">
            <a:avLst/>
          </a:prstGeom>
        </p:spPr>
        <p:txBody>
          <a:bodyPr wrap="square" lIns="0" tIns="0" rIns="0" bIns="0" rtlCol="0" anchor="t">
            <a:spAutoFit/>
          </a:bodyPr>
          <a:lstStyle/>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Defined features X and target y as Revenue</a:t>
            </a:r>
          </a:p>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Used train-test split (last 20% as test set)</a:t>
            </a:r>
          </a:p>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Chose </a:t>
            </a:r>
            <a:r>
              <a:rPr lang="en-US" sz="2400" i="1" dirty="0" err="1">
                <a:solidFill>
                  <a:srgbClr val="0F4662"/>
                </a:solidFill>
                <a:cs typeface="Times New Roman" panose="02020603050405020304" pitchFamily="18" charset="0"/>
              </a:rPr>
              <a:t>RandomForestRegressor</a:t>
            </a:r>
            <a:r>
              <a:rPr lang="en-US" sz="2400" i="1" dirty="0">
                <a:solidFill>
                  <a:srgbClr val="0F4662"/>
                </a:solidFill>
                <a:cs typeface="Times New Roman" panose="02020603050405020304" pitchFamily="18" charset="0"/>
              </a:rPr>
              <a:t> with tuned hyperparameters:</a:t>
            </a:r>
            <a:endParaRPr lang="en-US" sz="2400" i="1" dirty="0">
              <a:solidFill>
                <a:srgbClr val="0F4662"/>
              </a:solidFill>
              <a:cs typeface="Times New Roman" panose="02020603050405020304" pitchFamily="18" charset="0"/>
              <a:sym typeface="Quicksand"/>
            </a:endParaRPr>
          </a:p>
        </p:txBody>
      </p:sp>
      <p:sp>
        <p:nvSpPr>
          <p:cNvPr id="11" name="TextBox 7">
            <a:extLst>
              <a:ext uri="{FF2B5EF4-FFF2-40B4-BE49-F238E27FC236}">
                <a16:creationId xmlns:a16="http://schemas.microsoft.com/office/drawing/2014/main" id="{D1CCB12D-7177-00DC-EDF3-3E33BCE845C4}"/>
              </a:ext>
            </a:extLst>
          </p:cNvPr>
          <p:cNvSpPr txBox="1"/>
          <p:nvPr/>
        </p:nvSpPr>
        <p:spPr>
          <a:xfrm>
            <a:off x="228600" y="6800470"/>
            <a:ext cx="5715000" cy="436017"/>
          </a:xfrm>
          <a:prstGeom prst="rect">
            <a:avLst/>
          </a:prstGeom>
        </p:spPr>
        <p:txBody>
          <a:bodyPr wrap="square" lIns="0" tIns="0" rIns="0" bIns="0" rtlCol="0" anchor="t">
            <a:spAutoFit/>
          </a:bodyPr>
          <a:lstStyle/>
          <a:p>
            <a:pPr marL="0" lvl="0" indent="0">
              <a:lnSpc>
                <a:spcPts val="3359"/>
              </a:lnSpc>
              <a:spcBef>
                <a:spcPct val="0"/>
              </a:spcBef>
            </a:pPr>
            <a:r>
              <a:rPr lang="en-US" sz="3000" b="1" i="1" dirty="0">
                <a:solidFill>
                  <a:srgbClr val="0F4662"/>
                </a:solidFill>
                <a:cs typeface="Times New Roman" panose="02020603050405020304" pitchFamily="18" charset="0"/>
              </a:rPr>
              <a:t>2.Model Evaluation</a:t>
            </a:r>
            <a:r>
              <a:rPr lang="en-US" sz="2400" b="1" dirty="0"/>
              <a:t>: </a:t>
            </a:r>
            <a:r>
              <a:rPr lang="en-US" sz="2400" i="1" dirty="0">
                <a:solidFill>
                  <a:srgbClr val="0F4662"/>
                </a:solidFill>
                <a:cs typeface="Times New Roman" panose="02020603050405020304" pitchFamily="18" charset="0"/>
              </a:rPr>
              <a:t>RMSE,R2 Score</a:t>
            </a:r>
            <a:endParaRPr lang="en-US" sz="2400" i="1" dirty="0">
              <a:solidFill>
                <a:srgbClr val="0F4662"/>
              </a:solidFill>
              <a:cs typeface="Times New Roman" panose="02020603050405020304" pitchFamily="18" charset="0"/>
              <a:sym typeface="Quicksand"/>
            </a:endParaRPr>
          </a:p>
        </p:txBody>
      </p:sp>
      <p:sp>
        <p:nvSpPr>
          <p:cNvPr id="21" name="TextBox 20">
            <a:extLst>
              <a:ext uri="{FF2B5EF4-FFF2-40B4-BE49-F238E27FC236}">
                <a16:creationId xmlns:a16="http://schemas.microsoft.com/office/drawing/2014/main" id="{E501EF3D-C743-721C-D652-961009FA0473}"/>
              </a:ext>
            </a:extLst>
          </p:cNvPr>
          <p:cNvSpPr txBox="1"/>
          <p:nvPr/>
        </p:nvSpPr>
        <p:spPr>
          <a:xfrm>
            <a:off x="137254" y="7659262"/>
            <a:ext cx="9227126" cy="1754326"/>
          </a:xfrm>
          <a:prstGeom prst="rect">
            <a:avLst/>
          </a:prstGeom>
          <a:noFill/>
        </p:spPr>
        <p:txBody>
          <a:bodyPr wrap="square">
            <a:spAutoFit/>
          </a:bodyPr>
          <a:lstStyle/>
          <a:p>
            <a:pPr marL="285750" indent="-285750">
              <a:buFont typeface="Arial" panose="020B0604020202020204" pitchFamily="34" charset="0"/>
              <a:buChar char="•"/>
            </a:pPr>
            <a:endParaRPr lang="en-US" dirty="0"/>
          </a:p>
          <a:p>
            <a:pPr>
              <a:buFont typeface="Arial" panose="020B0604020202020204" pitchFamily="34" charset="0"/>
              <a:buChar char="•"/>
            </a:pPr>
            <a:r>
              <a:rPr lang="en-US" dirty="0"/>
              <a:t>    </a:t>
            </a:r>
            <a:r>
              <a:rPr lang="en-US" sz="2400" i="1" dirty="0">
                <a:solidFill>
                  <a:srgbClr val="0F4662"/>
                </a:solidFill>
                <a:cs typeface="Times New Roman" panose="02020603050405020304" pitchFamily="18" charset="0"/>
              </a:rPr>
              <a:t>Generated synthetic features for future dates</a:t>
            </a:r>
          </a:p>
          <a:p>
            <a:pPr marL="285750" indent="-285750">
              <a:buFont typeface="Arial" panose="020B0604020202020204" pitchFamily="34" charset="0"/>
              <a:buChar char="•"/>
            </a:pPr>
            <a:r>
              <a:rPr lang="en-US" sz="2400" i="1" dirty="0">
                <a:solidFill>
                  <a:srgbClr val="0F4662"/>
                </a:solidFill>
                <a:cs typeface="Times New Roman" panose="02020603050405020304" pitchFamily="18" charset="0"/>
              </a:rPr>
              <a:t>Predicted revenue for each future day using trained model</a:t>
            </a:r>
          </a:p>
          <a:p>
            <a:pPr marL="285750" indent="-285750">
              <a:buFont typeface="Arial" panose="020B0604020202020204" pitchFamily="34" charset="0"/>
              <a:buChar char="•"/>
            </a:pPr>
            <a:r>
              <a:rPr lang="en-US" sz="2400" i="1" dirty="0">
                <a:solidFill>
                  <a:srgbClr val="0F4662"/>
                </a:solidFill>
                <a:cs typeface="Times New Roman" panose="02020603050405020304" pitchFamily="18" charset="0"/>
              </a:rPr>
              <a:t>Aggregated into monthly revenue forecasts</a:t>
            </a:r>
          </a:p>
          <a:p>
            <a:pPr marL="285750" indent="-285750">
              <a:buFont typeface="Arial" panose="020B0604020202020204" pitchFamily="34" charset="0"/>
              <a:buChar char="•"/>
            </a:pPr>
            <a:endParaRPr lang="en-US" dirty="0"/>
          </a:p>
        </p:txBody>
      </p:sp>
      <p:sp>
        <p:nvSpPr>
          <p:cNvPr id="23" name="TextBox 22">
            <a:extLst>
              <a:ext uri="{FF2B5EF4-FFF2-40B4-BE49-F238E27FC236}">
                <a16:creationId xmlns:a16="http://schemas.microsoft.com/office/drawing/2014/main" id="{49682051-E155-D033-A68D-AAB5024D6D1E}"/>
              </a:ext>
            </a:extLst>
          </p:cNvPr>
          <p:cNvSpPr txBox="1"/>
          <p:nvPr/>
        </p:nvSpPr>
        <p:spPr>
          <a:xfrm>
            <a:off x="113996" y="7395847"/>
            <a:ext cx="9221636" cy="553998"/>
          </a:xfrm>
          <a:prstGeom prst="rect">
            <a:avLst/>
          </a:prstGeom>
          <a:noFill/>
        </p:spPr>
        <p:txBody>
          <a:bodyPr wrap="square">
            <a:spAutoFit/>
          </a:bodyPr>
          <a:lstStyle/>
          <a:p>
            <a:r>
              <a:rPr lang="en-US" sz="3000" b="1" i="1" dirty="0">
                <a:solidFill>
                  <a:srgbClr val="0F4662"/>
                </a:solidFill>
                <a:cs typeface="Times New Roman" panose="02020603050405020304" pitchFamily="18" charset="0"/>
              </a:rPr>
              <a:t>3.Future Forecasting (May–Oct 2024)</a:t>
            </a:r>
          </a:p>
        </p:txBody>
      </p:sp>
      <p:pic>
        <p:nvPicPr>
          <p:cNvPr id="4" name="Picture 3" descr="A screenshot of a test&#10;&#10;AI-generated content may be incorrect.">
            <a:extLst>
              <a:ext uri="{FF2B5EF4-FFF2-40B4-BE49-F238E27FC236}">
                <a16:creationId xmlns:a16="http://schemas.microsoft.com/office/drawing/2014/main" id="{DACDB0DB-3F6D-0995-D47A-B0DF112DD5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7962" y="1953771"/>
            <a:ext cx="7850038" cy="3625629"/>
          </a:xfrm>
          <a:prstGeom prst="rect">
            <a:avLst/>
          </a:prstGeom>
        </p:spPr>
      </p:pic>
    </p:spTree>
    <p:extLst>
      <p:ext uri="{BB962C8B-B14F-4D97-AF65-F5344CB8AC3E}">
        <p14:creationId xmlns:p14="http://schemas.microsoft.com/office/powerpoint/2010/main" val="297615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16DFB-5135-7124-1FBD-F3F4B00ED6B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9E2338-E74A-48A0-864A-9FC1058FEE92}"/>
              </a:ext>
            </a:extLst>
          </p:cNvPr>
          <p:cNvGrpSpPr/>
          <p:nvPr/>
        </p:nvGrpSpPr>
        <p:grpSpPr>
          <a:xfrm>
            <a:off x="0" y="0"/>
            <a:ext cx="18288000" cy="1943099"/>
            <a:chOff x="0" y="0"/>
            <a:chExt cx="4816593" cy="1079700"/>
          </a:xfrm>
        </p:grpSpPr>
        <p:sp>
          <p:nvSpPr>
            <p:cNvPr id="3" name="Freeform 3">
              <a:extLst>
                <a:ext uri="{FF2B5EF4-FFF2-40B4-BE49-F238E27FC236}">
                  <a16:creationId xmlns:a16="http://schemas.microsoft.com/office/drawing/2014/main" id="{6BD93A59-36EF-203C-FE40-F61FD4CF4752}"/>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a:extLst>
                <a:ext uri="{FF2B5EF4-FFF2-40B4-BE49-F238E27FC236}">
                  <a16:creationId xmlns:a16="http://schemas.microsoft.com/office/drawing/2014/main" id="{E2706FA2-CEB2-FA9B-1A74-88CB8255826B}"/>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a:extLst>
              <a:ext uri="{FF2B5EF4-FFF2-40B4-BE49-F238E27FC236}">
                <a16:creationId xmlns:a16="http://schemas.microsoft.com/office/drawing/2014/main" id="{C3A87A1A-4D88-1474-7FEE-A1D04C712462}"/>
              </a:ext>
            </a:extLst>
          </p:cNvPr>
          <p:cNvSpPr txBox="1"/>
          <p:nvPr/>
        </p:nvSpPr>
        <p:spPr>
          <a:xfrm>
            <a:off x="3825171" y="438162"/>
            <a:ext cx="11460042" cy="1064009"/>
          </a:xfrm>
          <a:prstGeom prst="rect">
            <a:avLst/>
          </a:prstGeom>
        </p:spPr>
        <p:txBody>
          <a:bodyPr wrap="square"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Revenue Forecasting Outcome</a:t>
            </a:r>
          </a:p>
        </p:txBody>
      </p:sp>
      <p:grpSp>
        <p:nvGrpSpPr>
          <p:cNvPr id="12" name="Group 2">
            <a:extLst>
              <a:ext uri="{FF2B5EF4-FFF2-40B4-BE49-F238E27FC236}">
                <a16:creationId xmlns:a16="http://schemas.microsoft.com/office/drawing/2014/main" id="{7F41011E-AB40-B3BE-EB34-58F67104D5E5}"/>
              </a:ext>
            </a:extLst>
          </p:cNvPr>
          <p:cNvGrpSpPr/>
          <p:nvPr/>
        </p:nvGrpSpPr>
        <p:grpSpPr>
          <a:xfrm>
            <a:off x="228601" y="2232349"/>
            <a:ext cx="8382000" cy="7422926"/>
            <a:chOff x="0" y="0"/>
            <a:chExt cx="1418473" cy="1692619"/>
          </a:xfrm>
        </p:grpSpPr>
        <p:sp>
          <p:nvSpPr>
            <p:cNvPr id="13" name="Freeform 3">
              <a:extLst>
                <a:ext uri="{FF2B5EF4-FFF2-40B4-BE49-F238E27FC236}">
                  <a16:creationId xmlns:a16="http://schemas.microsoft.com/office/drawing/2014/main" id="{BCC65D70-BEE1-7D6B-5A31-A9B0226AA80C}"/>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14" name="TextBox 4">
              <a:extLst>
                <a:ext uri="{FF2B5EF4-FFF2-40B4-BE49-F238E27FC236}">
                  <a16:creationId xmlns:a16="http://schemas.microsoft.com/office/drawing/2014/main" id="{56D3DE9E-1EC5-53F4-543E-58F894D93D21}"/>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16" name="TextBox 9">
            <a:extLst>
              <a:ext uri="{FF2B5EF4-FFF2-40B4-BE49-F238E27FC236}">
                <a16:creationId xmlns:a16="http://schemas.microsoft.com/office/drawing/2014/main" id="{0112396B-F71B-E8CE-A225-C70D81830FC7}"/>
              </a:ext>
            </a:extLst>
          </p:cNvPr>
          <p:cNvSpPr txBox="1"/>
          <p:nvPr/>
        </p:nvSpPr>
        <p:spPr>
          <a:xfrm>
            <a:off x="1154499" y="2995900"/>
            <a:ext cx="7227495" cy="477310"/>
          </a:xfrm>
          <a:prstGeom prst="rect">
            <a:avLst/>
          </a:prstGeom>
        </p:spPr>
        <p:txBody>
          <a:bodyPr wrap="square" lIns="0" tIns="0" rIns="0" bIns="0" rtlCol="0" anchor="t">
            <a:spAutoFit/>
          </a:bodyPr>
          <a:lstStyle/>
          <a:p>
            <a:pPr>
              <a:lnSpc>
                <a:spcPts val="3359"/>
              </a:lnSpc>
              <a:spcBef>
                <a:spcPct val="0"/>
              </a:spcBef>
            </a:pPr>
            <a:r>
              <a:rPr lang="en-US" sz="5000" b="1" i="1" dirty="0">
                <a:solidFill>
                  <a:srgbClr val="0F4662"/>
                </a:solidFill>
                <a:latin typeface="Times New Roman" panose="02020603050405020304" pitchFamily="18" charset="0"/>
                <a:cs typeface="Times New Roman" panose="02020603050405020304" pitchFamily="18" charset="0"/>
              </a:rPr>
              <a:t>Actual vs Predicted Values</a:t>
            </a:r>
            <a:endParaRPr lang="en-US" sz="5000" b="1" i="1" dirty="0">
              <a:solidFill>
                <a:srgbClr val="0F4662"/>
              </a:solidFill>
              <a:latin typeface="Times New Roman" panose="02020603050405020304" pitchFamily="18" charset="0"/>
              <a:cs typeface="Times New Roman" panose="02020603050405020304" pitchFamily="18" charset="0"/>
              <a:sym typeface="Quicksand"/>
            </a:endParaRPr>
          </a:p>
        </p:txBody>
      </p:sp>
      <p:grpSp>
        <p:nvGrpSpPr>
          <p:cNvPr id="17" name="Group 2">
            <a:extLst>
              <a:ext uri="{FF2B5EF4-FFF2-40B4-BE49-F238E27FC236}">
                <a16:creationId xmlns:a16="http://schemas.microsoft.com/office/drawing/2014/main" id="{247EF25F-0500-711B-851F-B089B5727743}"/>
              </a:ext>
            </a:extLst>
          </p:cNvPr>
          <p:cNvGrpSpPr/>
          <p:nvPr/>
        </p:nvGrpSpPr>
        <p:grpSpPr>
          <a:xfrm>
            <a:off x="9143998" y="2182071"/>
            <a:ext cx="8382000" cy="7598154"/>
            <a:chOff x="0" y="0"/>
            <a:chExt cx="1418473" cy="1692619"/>
          </a:xfrm>
        </p:grpSpPr>
        <p:sp>
          <p:nvSpPr>
            <p:cNvPr id="18" name="Freeform 3">
              <a:extLst>
                <a:ext uri="{FF2B5EF4-FFF2-40B4-BE49-F238E27FC236}">
                  <a16:creationId xmlns:a16="http://schemas.microsoft.com/office/drawing/2014/main" id="{EE13A3F4-DDB9-1093-24E1-46CF2A14223E}"/>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20" name="TextBox 4">
              <a:extLst>
                <a:ext uri="{FF2B5EF4-FFF2-40B4-BE49-F238E27FC236}">
                  <a16:creationId xmlns:a16="http://schemas.microsoft.com/office/drawing/2014/main" id="{8777E7AE-2ABD-6EB4-E72F-EC2C3D9C17B9}"/>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22" name="TextBox 9">
            <a:extLst>
              <a:ext uri="{FF2B5EF4-FFF2-40B4-BE49-F238E27FC236}">
                <a16:creationId xmlns:a16="http://schemas.microsoft.com/office/drawing/2014/main" id="{7532C510-E8B9-FA6D-1064-B1CF215FC9FD}"/>
              </a:ext>
            </a:extLst>
          </p:cNvPr>
          <p:cNvSpPr txBox="1"/>
          <p:nvPr/>
        </p:nvSpPr>
        <p:spPr>
          <a:xfrm>
            <a:off x="9555191" y="2972713"/>
            <a:ext cx="7578309" cy="477310"/>
          </a:xfrm>
          <a:prstGeom prst="rect">
            <a:avLst/>
          </a:prstGeom>
        </p:spPr>
        <p:txBody>
          <a:bodyPr wrap="square" lIns="0" tIns="0" rIns="0" bIns="0" rtlCol="0" anchor="t">
            <a:spAutoFit/>
          </a:bodyPr>
          <a:lstStyle/>
          <a:p>
            <a:pPr>
              <a:lnSpc>
                <a:spcPts val="3359"/>
              </a:lnSpc>
              <a:spcBef>
                <a:spcPct val="0"/>
              </a:spcBef>
            </a:pPr>
            <a:r>
              <a:rPr lang="en-US" sz="5000" b="1" i="1" dirty="0">
                <a:solidFill>
                  <a:srgbClr val="0F4662"/>
                </a:solidFill>
                <a:latin typeface="Times New Roman" panose="02020603050405020304" pitchFamily="18" charset="0"/>
                <a:cs typeface="Times New Roman" panose="02020603050405020304" pitchFamily="18" charset="0"/>
              </a:rPr>
              <a:t>Actual vs Predicted Graph</a:t>
            </a:r>
            <a:endParaRPr lang="en-US" sz="5000" b="1" i="1" dirty="0">
              <a:solidFill>
                <a:srgbClr val="0F4662"/>
              </a:solidFill>
              <a:latin typeface="Times New Roman" panose="02020603050405020304" pitchFamily="18" charset="0"/>
              <a:cs typeface="Times New Roman" panose="02020603050405020304" pitchFamily="18" charset="0"/>
              <a:sym typeface="Quicksand"/>
            </a:endParaRPr>
          </a:p>
        </p:txBody>
      </p:sp>
      <p:pic>
        <p:nvPicPr>
          <p:cNvPr id="6" name="Picture 5" descr="A screenshot of a computer screen&#10;&#10;AI-generated content may be incorrect.">
            <a:extLst>
              <a:ext uri="{FF2B5EF4-FFF2-40B4-BE49-F238E27FC236}">
                <a16:creationId xmlns:a16="http://schemas.microsoft.com/office/drawing/2014/main" id="{C8043831-7B0C-3B34-537B-7C9A29A1C6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4163757"/>
            <a:ext cx="7924795" cy="5246943"/>
          </a:xfrm>
          <a:prstGeom prst="rect">
            <a:avLst/>
          </a:prstGeom>
        </p:spPr>
      </p:pic>
      <p:pic>
        <p:nvPicPr>
          <p:cNvPr id="8" name="Picture 7" descr="A graph with blue and orange lines&#10;&#10;AI-generated content may be incorrect.">
            <a:extLst>
              <a:ext uri="{FF2B5EF4-FFF2-40B4-BE49-F238E27FC236}">
                <a16:creationId xmlns:a16="http://schemas.microsoft.com/office/drawing/2014/main" id="{A4FEF5B1-E8B5-84BD-3350-08B2AF0C46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5655" y="4256882"/>
            <a:ext cx="8097380" cy="5001418"/>
          </a:xfrm>
          <a:prstGeom prst="rect">
            <a:avLst/>
          </a:prstGeom>
        </p:spPr>
      </p:pic>
    </p:spTree>
    <p:extLst>
      <p:ext uri="{BB962C8B-B14F-4D97-AF65-F5344CB8AC3E}">
        <p14:creationId xmlns:p14="http://schemas.microsoft.com/office/powerpoint/2010/main" val="2570313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CD78C-8515-1F8F-A9EE-7A4E9FFAC030}"/>
            </a:ext>
          </a:extLst>
        </p:cNvPr>
        <p:cNvGrpSpPr/>
        <p:nvPr/>
      </p:nvGrpSpPr>
      <p:grpSpPr>
        <a:xfrm>
          <a:off x="0" y="0"/>
          <a:ext cx="0" cy="0"/>
          <a:chOff x="0" y="0"/>
          <a:chExt cx="0" cy="0"/>
        </a:xfrm>
      </p:grpSpPr>
      <p:sp>
        <p:nvSpPr>
          <p:cNvPr id="14" name="Freeform 14">
            <a:extLst>
              <a:ext uri="{FF2B5EF4-FFF2-40B4-BE49-F238E27FC236}">
                <a16:creationId xmlns:a16="http://schemas.microsoft.com/office/drawing/2014/main" id="{5D5758BA-D0EA-542D-0AB4-339A9B4EDE29}"/>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7" name="Group 2">
            <a:extLst>
              <a:ext uri="{FF2B5EF4-FFF2-40B4-BE49-F238E27FC236}">
                <a16:creationId xmlns:a16="http://schemas.microsoft.com/office/drawing/2014/main" id="{10D62914-5120-51C0-D265-5C770011EDC1}"/>
              </a:ext>
            </a:extLst>
          </p:cNvPr>
          <p:cNvGrpSpPr/>
          <p:nvPr/>
        </p:nvGrpSpPr>
        <p:grpSpPr>
          <a:xfrm>
            <a:off x="18691" y="-43988"/>
            <a:ext cx="18288000" cy="1943099"/>
            <a:chOff x="0" y="0"/>
            <a:chExt cx="4816593" cy="1079700"/>
          </a:xfrm>
        </p:grpSpPr>
        <p:sp>
          <p:nvSpPr>
            <p:cNvPr id="10" name="Freeform 3">
              <a:extLst>
                <a:ext uri="{FF2B5EF4-FFF2-40B4-BE49-F238E27FC236}">
                  <a16:creationId xmlns:a16="http://schemas.microsoft.com/office/drawing/2014/main" id="{E0B1A8EE-CD71-31E7-A4A8-682862D97115}"/>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1" name="TextBox 4">
              <a:extLst>
                <a:ext uri="{FF2B5EF4-FFF2-40B4-BE49-F238E27FC236}">
                  <a16:creationId xmlns:a16="http://schemas.microsoft.com/office/drawing/2014/main" id="{CA61E231-0509-CCF2-F58A-2014CE59A4E3}"/>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3" name="TextBox 6">
            <a:extLst>
              <a:ext uri="{FF2B5EF4-FFF2-40B4-BE49-F238E27FC236}">
                <a16:creationId xmlns:a16="http://schemas.microsoft.com/office/drawing/2014/main" id="{35339B59-D81A-B3F7-3EF9-E197AFAC7334}"/>
              </a:ext>
            </a:extLst>
          </p:cNvPr>
          <p:cNvSpPr txBox="1"/>
          <p:nvPr/>
        </p:nvSpPr>
        <p:spPr>
          <a:xfrm>
            <a:off x="805132" y="451303"/>
            <a:ext cx="14072064" cy="1099019"/>
          </a:xfrm>
          <a:prstGeom prst="rect">
            <a:avLst/>
          </a:prstGeom>
        </p:spPr>
        <p:txBody>
          <a:bodyPr lIns="0" tIns="0" rIns="0" bIns="0" rtlCol="0" anchor="t">
            <a:spAutoFit/>
          </a:bodyPr>
          <a:lstStyle/>
          <a:p>
            <a:pPr marL="0" lvl="0" indent="0" algn="l">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Correlation Matrix</a:t>
            </a:r>
          </a:p>
        </p:txBody>
      </p:sp>
      <p:pic>
        <p:nvPicPr>
          <p:cNvPr id="4" name="Picture 3" descr="A screenshot of a graph&#10;&#10;AI-generated content may be incorrect.">
            <a:extLst>
              <a:ext uri="{FF2B5EF4-FFF2-40B4-BE49-F238E27FC236}">
                <a16:creationId xmlns:a16="http://schemas.microsoft.com/office/drawing/2014/main" id="{AF6A9ADC-9840-98E2-9768-431F589CD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4381" y="2394402"/>
            <a:ext cx="12039600" cy="6809596"/>
          </a:xfrm>
          <a:prstGeom prst="rect">
            <a:avLst/>
          </a:prstGeom>
        </p:spPr>
      </p:pic>
    </p:spTree>
    <p:extLst>
      <p:ext uri="{BB962C8B-B14F-4D97-AF65-F5344CB8AC3E}">
        <p14:creationId xmlns:p14="http://schemas.microsoft.com/office/powerpoint/2010/main" val="3502835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78B16-49DA-69E5-80F8-E0E688F579A0}"/>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F7FC4372-F7FC-6E36-0C69-A10F5CA644DE}"/>
              </a:ext>
            </a:extLst>
          </p:cNvPr>
          <p:cNvSpPr txBox="1"/>
          <p:nvPr/>
        </p:nvSpPr>
        <p:spPr>
          <a:xfrm>
            <a:off x="104890" y="3640994"/>
            <a:ext cx="4800600" cy="436017"/>
          </a:xfrm>
          <a:prstGeom prst="rect">
            <a:avLst/>
          </a:prstGeom>
        </p:spPr>
        <p:txBody>
          <a:bodyPr wrap="square" lIns="0" tIns="0" rIns="0" bIns="0" rtlCol="0" anchor="t">
            <a:spAutoFit/>
          </a:bodyPr>
          <a:lstStyle/>
          <a:p>
            <a:pPr>
              <a:lnSpc>
                <a:spcPts val="3359"/>
              </a:lnSpc>
              <a:spcBef>
                <a:spcPct val="0"/>
              </a:spcBef>
            </a:pPr>
            <a:r>
              <a:rPr lang="en-US" sz="3000" b="1" i="1" dirty="0">
                <a:solidFill>
                  <a:srgbClr val="0F4662"/>
                </a:solidFill>
                <a:cs typeface="Times New Roman" panose="02020603050405020304" pitchFamily="18" charset="0"/>
              </a:rPr>
              <a:t>1.Features Used</a:t>
            </a:r>
            <a:endParaRPr lang="en-US" sz="3000" b="1" i="1" dirty="0">
              <a:solidFill>
                <a:srgbClr val="0F4662"/>
              </a:solidFill>
              <a:cs typeface="Times New Roman" panose="02020603050405020304" pitchFamily="18" charset="0"/>
              <a:sym typeface="Quicksand"/>
            </a:endParaRPr>
          </a:p>
        </p:txBody>
      </p:sp>
      <p:sp>
        <p:nvSpPr>
          <p:cNvPr id="8" name="TextBox 8">
            <a:extLst>
              <a:ext uri="{FF2B5EF4-FFF2-40B4-BE49-F238E27FC236}">
                <a16:creationId xmlns:a16="http://schemas.microsoft.com/office/drawing/2014/main" id="{02BD552F-B405-464C-7429-B4DCBAC30279}"/>
              </a:ext>
            </a:extLst>
          </p:cNvPr>
          <p:cNvSpPr txBox="1"/>
          <p:nvPr/>
        </p:nvSpPr>
        <p:spPr>
          <a:xfrm>
            <a:off x="152399" y="2357271"/>
            <a:ext cx="6858001" cy="1000274"/>
          </a:xfrm>
          <a:prstGeom prst="rect">
            <a:avLst/>
          </a:prstGeom>
        </p:spPr>
        <p:txBody>
          <a:bodyPr wrap="square" lIns="0" tIns="0" rIns="0" bIns="0" rtlCol="0" anchor="t">
            <a:spAutoFit/>
          </a:bodyPr>
          <a:lstStyle/>
          <a:p>
            <a:pPr marL="0" lvl="0" indent="0">
              <a:lnSpc>
                <a:spcPts val="3919"/>
              </a:lnSpc>
              <a:spcBef>
                <a:spcPct val="0"/>
              </a:spcBef>
            </a:pPr>
            <a:r>
              <a:rPr lang="en-US" sz="4000" b="1" i="1" dirty="0">
                <a:solidFill>
                  <a:srgbClr val="0F4662"/>
                </a:solidFill>
                <a:latin typeface="Times New Roman" panose="02020603050405020304" pitchFamily="18" charset="0"/>
                <a:cs typeface="Times New Roman" panose="02020603050405020304" pitchFamily="18" charset="0"/>
              </a:rPr>
              <a:t>Price Prediction with Random Forest</a:t>
            </a:r>
            <a:endParaRPr lang="en-US" sz="4000" b="1" i="1" dirty="0">
              <a:solidFill>
                <a:srgbClr val="0F4662"/>
              </a:solidFill>
              <a:latin typeface="Times New Roman" panose="02020603050405020304" pitchFamily="18" charset="0"/>
              <a:cs typeface="Times New Roman" panose="02020603050405020304" pitchFamily="18" charset="0"/>
              <a:sym typeface="Quicksand Bold"/>
            </a:endParaRPr>
          </a:p>
        </p:txBody>
      </p:sp>
      <p:sp>
        <p:nvSpPr>
          <p:cNvPr id="13" name="Freeform 13">
            <a:extLst>
              <a:ext uri="{FF2B5EF4-FFF2-40B4-BE49-F238E27FC236}">
                <a16:creationId xmlns:a16="http://schemas.microsoft.com/office/drawing/2014/main" id="{4F8FA544-7B82-FFFD-7F7A-766ED4DA1914}"/>
              </a:ext>
            </a:extLst>
          </p:cNvPr>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a:extLst>
              <a:ext uri="{FF2B5EF4-FFF2-40B4-BE49-F238E27FC236}">
                <a16:creationId xmlns:a16="http://schemas.microsoft.com/office/drawing/2014/main" id="{ACC07C6F-8D07-2C9A-3B45-FE6BF10EF9CC}"/>
              </a:ext>
            </a:extLst>
          </p:cNvPr>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5" name="Group 2">
            <a:extLst>
              <a:ext uri="{FF2B5EF4-FFF2-40B4-BE49-F238E27FC236}">
                <a16:creationId xmlns:a16="http://schemas.microsoft.com/office/drawing/2014/main" id="{BE356D91-D639-962A-D610-9089EB87A679}"/>
              </a:ext>
            </a:extLst>
          </p:cNvPr>
          <p:cNvGrpSpPr/>
          <p:nvPr/>
        </p:nvGrpSpPr>
        <p:grpSpPr>
          <a:xfrm>
            <a:off x="0" y="10816"/>
            <a:ext cx="18288000" cy="1943099"/>
            <a:chOff x="0" y="0"/>
            <a:chExt cx="4816593" cy="1079700"/>
          </a:xfrm>
        </p:grpSpPr>
        <p:sp>
          <p:nvSpPr>
            <p:cNvPr id="16" name="Freeform 3">
              <a:extLst>
                <a:ext uri="{FF2B5EF4-FFF2-40B4-BE49-F238E27FC236}">
                  <a16:creationId xmlns:a16="http://schemas.microsoft.com/office/drawing/2014/main" id="{4C6A7B89-41DB-AFC9-93A0-E2A9F09DFF8C}"/>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17" name="TextBox 4">
              <a:extLst>
                <a:ext uri="{FF2B5EF4-FFF2-40B4-BE49-F238E27FC236}">
                  <a16:creationId xmlns:a16="http://schemas.microsoft.com/office/drawing/2014/main" id="{C4147BB9-4DD5-D946-CCAD-2C7C9C46BB0D}"/>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8" name="TextBox 6">
            <a:extLst>
              <a:ext uri="{FF2B5EF4-FFF2-40B4-BE49-F238E27FC236}">
                <a16:creationId xmlns:a16="http://schemas.microsoft.com/office/drawing/2014/main" id="{E261F7B4-2C8B-1EF2-10A3-B4ADEFBA9CA6}"/>
              </a:ext>
            </a:extLst>
          </p:cNvPr>
          <p:cNvSpPr txBox="1"/>
          <p:nvPr/>
        </p:nvSpPr>
        <p:spPr>
          <a:xfrm>
            <a:off x="381000" y="451303"/>
            <a:ext cx="14496196" cy="1099019"/>
          </a:xfrm>
          <a:prstGeom prst="rect">
            <a:avLst/>
          </a:prstGeom>
        </p:spPr>
        <p:txBody>
          <a:bodyPr wrap="square" lIns="0" tIns="0" rIns="0" bIns="0" rtlCol="0" anchor="t">
            <a:spAutoFit/>
          </a:bodyPr>
          <a:lstStyle/>
          <a:p>
            <a:pPr>
              <a:lnSpc>
                <a:spcPts val="8959"/>
              </a:lnSpc>
              <a:spcBef>
                <a:spcPct val="0"/>
              </a:spcBef>
            </a:pPr>
            <a:r>
              <a:rPr lang="en-US" sz="6600" b="1" i="1" dirty="0">
                <a:solidFill>
                  <a:srgbClr val="0F4662"/>
                </a:solidFill>
                <a:latin typeface="Times New Roman" panose="02020603050405020304" pitchFamily="18" charset="0"/>
                <a:cs typeface="Times New Roman" panose="02020603050405020304" pitchFamily="18" charset="0"/>
                <a:sym typeface="Cormorant Garamond Bold Italics"/>
              </a:rPr>
              <a:t>Prediction</a:t>
            </a:r>
          </a:p>
        </p:txBody>
      </p:sp>
      <p:sp>
        <p:nvSpPr>
          <p:cNvPr id="9" name="TextBox 7">
            <a:extLst>
              <a:ext uri="{FF2B5EF4-FFF2-40B4-BE49-F238E27FC236}">
                <a16:creationId xmlns:a16="http://schemas.microsoft.com/office/drawing/2014/main" id="{7BAF7351-1A5F-E8BE-1725-BE20DACBB5C8}"/>
              </a:ext>
            </a:extLst>
          </p:cNvPr>
          <p:cNvSpPr txBox="1"/>
          <p:nvPr/>
        </p:nvSpPr>
        <p:spPr>
          <a:xfrm>
            <a:off x="249382" y="4247789"/>
            <a:ext cx="4475018" cy="3460371"/>
          </a:xfrm>
          <a:prstGeom prst="rect">
            <a:avLst/>
          </a:prstGeom>
        </p:spPr>
        <p:txBody>
          <a:bodyPr wrap="square" lIns="0" tIns="0" rIns="0" bIns="0" rtlCol="0" anchor="t">
            <a:spAutoFit/>
          </a:bodyPr>
          <a:lstStyle/>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Target Variable: Price</a:t>
            </a:r>
          </a:p>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Excluded Columns: Journey Status, Reason for Delay, Refund Request, Delay(min)</a:t>
            </a:r>
          </a:p>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Used train-test split (last 20% as test set)</a:t>
            </a:r>
          </a:p>
          <a:p>
            <a:pPr indent="-342900">
              <a:lnSpc>
                <a:spcPts val="3359"/>
              </a:lnSpc>
              <a:spcBef>
                <a:spcPct val="0"/>
              </a:spcBef>
              <a:buFont typeface="Arial" panose="020B0604020202020204" pitchFamily="34" charset="0"/>
              <a:buChar char="•"/>
            </a:pPr>
            <a:r>
              <a:rPr lang="en-US" sz="2400" i="1" dirty="0">
                <a:solidFill>
                  <a:srgbClr val="0F4662"/>
                </a:solidFill>
                <a:cs typeface="Times New Roman" panose="02020603050405020304" pitchFamily="18" charset="0"/>
              </a:rPr>
              <a:t>Chose </a:t>
            </a:r>
            <a:r>
              <a:rPr lang="en-US" sz="2400" i="1" dirty="0" err="1">
                <a:solidFill>
                  <a:srgbClr val="0F4662"/>
                </a:solidFill>
                <a:cs typeface="Times New Roman" panose="02020603050405020304" pitchFamily="18" charset="0"/>
              </a:rPr>
              <a:t>RandomForestRegressor</a:t>
            </a:r>
            <a:r>
              <a:rPr lang="en-US" sz="2400" i="1" dirty="0">
                <a:solidFill>
                  <a:srgbClr val="0F4662"/>
                </a:solidFill>
                <a:cs typeface="Times New Roman" panose="02020603050405020304" pitchFamily="18" charset="0"/>
              </a:rPr>
              <a:t> with tuned hyperparameters:</a:t>
            </a:r>
            <a:endParaRPr lang="en-US" sz="2400" i="1" dirty="0">
              <a:solidFill>
                <a:srgbClr val="0F4662"/>
              </a:solidFill>
              <a:cs typeface="Times New Roman" panose="02020603050405020304" pitchFamily="18" charset="0"/>
              <a:sym typeface="Quicksand"/>
            </a:endParaRPr>
          </a:p>
        </p:txBody>
      </p:sp>
      <p:sp>
        <p:nvSpPr>
          <p:cNvPr id="11" name="TextBox 7">
            <a:extLst>
              <a:ext uri="{FF2B5EF4-FFF2-40B4-BE49-F238E27FC236}">
                <a16:creationId xmlns:a16="http://schemas.microsoft.com/office/drawing/2014/main" id="{9887BFF7-1681-3533-33CB-185070EE5CA0}"/>
              </a:ext>
            </a:extLst>
          </p:cNvPr>
          <p:cNvSpPr txBox="1"/>
          <p:nvPr/>
        </p:nvSpPr>
        <p:spPr>
          <a:xfrm>
            <a:off x="155274" y="7946430"/>
            <a:ext cx="5715000" cy="844270"/>
          </a:xfrm>
          <a:prstGeom prst="rect">
            <a:avLst/>
          </a:prstGeom>
        </p:spPr>
        <p:txBody>
          <a:bodyPr wrap="square" lIns="0" tIns="0" rIns="0" bIns="0" rtlCol="0" anchor="t">
            <a:spAutoFit/>
          </a:bodyPr>
          <a:lstStyle/>
          <a:p>
            <a:pPr marL="0" lvl="0" indent="0">
              <a:lnSpc>
                <a:spcPts val="3359"/>
              </a:lnSpc>
              <a:spcBef>
                <a:spcPct val="0"/>
              </a:spcBef>
            </a:pPr>
            <a:r>
              <a:rPr lang="en-US" sz="3000" b="1" i="1" dirty="0">
                <a:solidFill>
                  <a:srgbClr val="0F4662"/>
                </a:solidFill>
                <a:cs typeface="Times New Roman" panose="02020603050405020304" pitchFamily="18" charset="0"/>
              </a:rPr>
              <a:t>2.Model Evaluation</a:t>
            </a:r>
            <a:r>
              <a:rPr lang="en-US" sz="2400" b="1" dirty="0"/>
              <a:t>: </a:t>
            </a:r>
            <a:endParaRPr lang="en-US" sz="2400" b="1" i="1" dirty="0">
              <a:solidFill>
                <a:srgbClr val="0F4662"/>
              </a:solidFill>
              <a:cs typeface="Times New Roman" panose="02020603050405020304" pitchFamily="18" charset="0"/>
            </a:endParaRPr>
          </a:p>
          <a:p>
            <a:pPr marL="0" lvl="0" indent="0">
              <a:lnSpc>
                <a:spcPts val="3359"/>
              </a:lnSpc>
              <a:spcBef>
                <a:spcPct val="0"/>
              </a:spcBef>
            </a:pPr>
            <a:r>
              <a:rPr lang="en-US" sz="2400" i="1" dirty="0">
                <a:solidFill>
                  <a:srgbClr val="0F4662"/>
                </a:solidFill>
                <a:cs typeface="Times New Roman" panose="02020603050405020304" pitchFamily="18" charset="0"/>
              </a:rPr>
              <a:t>MSE,R2 Score for both training &amp;test set</a:t>
            </a:r>
            <a:endParaRPr lang="en-US" sz="2400" i="1" dirty="0">
              <a:solidFill>
                <a:srgbClr val="0F4662"/>
              </a:solidFill>
              <a:cs typeface="Times New Roman" panose="02020603050405020304" pitchFamily="18" charset="0"/>
              <a:sym typeface="Quicksand"/>
            </a:endParaRPr>
          </a:p>
        </p:txBody>
      </p:sp>
      <p:pic>
        <p:nvPicPr>
          <p:cNvPr id="5" name="Picture 4" descr="A screenshot of a computer program&#10;&#10;AI-generated content may be incorrect.">
            <a:extLst>
              <a:ext uri="{FF2B5EF4-FFF2-40B4-BE49-F238E27FC236}">
                <a16:creationId xmlns:a16="http://schemas.microsoft.com/office/drawing/2014/main" id="{E57A2DFE-5BA8-8F8D-643B-154055088F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0400" y="2049752"/>
            <a:ext cx="10187792" cy="7352541"/>
          </a:xfrm>
          <a:prstGeom prst="rect">
            <a:avLst/>
          </a:prstGeom>
        </p:spPr>
      </p:pic>
    </p:spTree>
    <p:extLst>
      <p:ext uri="{BB962C8B-B14F-4D97-AF65-F5344CB8AC3E}">
        <p14:creationId xmlns:p14="http://schemas.microsoft.com/office/powerpoint/2010/main" val="1247052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53712-7921-19B6-702D-D017DC80DF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59A389F-09ED-38FE-A5A3-831903499F16}"/>
              </a:ext>
            </a:extLst>
          </p:cNvPr>
          <p:cNvGrpSpPr/>
          <p:nvPr/>
        </p:nvGrpSpPr>
        <p:grpSpPr>
          <a:xfrm>
            <a:off x="0" y="0"/>
            <a:ext cx="18288000" cy="1943099"/>
            <a:chOff x="0" y="0"/>
            <a:chExt cx="4816593" cy="1079700"/>
          </a:xfrm>
        </p:grpSpPr>
        <p:sp>
          <p:nvSpPr>
            <p:cNvPr id="3" name="Freeform 3">
              <a:extLst>
                <a:ext uri="{FF2B5EF4-FFF2-40B4-BE49-F238E27FC236}">
                  <a16:creationId xmlns:a16="http://schemas.microsoft.com/office/drawing/2014/main" id="{8CA291AD-0D91-8568-4343-561ABC54B879}"/>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a:extLst>
                <a:ext uri="{FF2B5EF4-FFF2-40B4-BE49-F238E27FC236}">
                  <a16:creationId xmlns:a16="http://schemas.microsoft.com/office/drawing/2014/main" id="{FBAB0491-DF81-CFC6-BE42-B149485A5C95}"/>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a:extLst>
              <a:ext uri="{FF2B5EF4-FFF2-40B4-BE49-F238E27FC236}">
                <a16:creationId xmlns:a16="http://schemas.microsoft.com/office/drawing/2014/main" id="{C65F4247-B3C0-5AA9-960F-03BB50B17BA5}"/>
              </a:ext>
            </a:extLst>
          </p:cNvPr>
          <p:cNvSpPr txBox="1"/>
          <p:nvPr/>
        </p:nvSpPr>
        <p:spPr>
          <a:xfrm>
            <a:off x="3825171" y="438162"/>
            <a:ext cx="11460042" cy="1045992"/>
          </a:xfrm>
          <a:prstGeom prst="rect">
            <a:avLst/>
          </a:prstGeom>
        </p:spPr>
        <p:txBody>
          <a:bodyPr wrap="square" lIns="0" tIns="0" rIns="0" bIns="0" rtlCol="0" anchor="t">
            <a:spAutoFit/>
          </a:bodyPr>
          <a:lstStyle/>
          <a:p>
            <a:pPr marL="0" lvl="0" indent="0" algn="l">
              <a:lnSpc>
                <a:spcPts val="8959"/>
              </a:lnSpc>
              <a:spcBef>
                <a:spcPct val="0"/>
              </a:spcBef>
            </a:pPr>
            <a:r>
              <a:rPr lang="en-US" sz="6000" b="1" i="1" dirty="0">
                <a:solidFill>
                  <a:srgbClr val="0F4662"/>
                </a:solidFill>
                <a:latin typeface="Times New Roman" panose="02020603050405020304" pitchFamily="18" charset="0"/>
                <a:cs typeface="Times New Roman" panose="02020603050405020304" pitchFamily="18" charset="0"/>
                <a:sym typeface="Cormorant Garamond Bold Italics"/>
              </a:rPr>
              <a:t>Price Prediction User Interaction</a:t>
            </a:r>
          </a:p>
        </p:txBody>
      </p:sp>
      <p:grpSp>
        <p:nvGrpSpPr>
          <p:cNvPr id="12" name="Group 2">
            <a:extLst>
              <a:ext uri="{FF2B5EF4-FFF2-40B4-BE49-F238E27FC236}">
                <a16:creationId xmlns:a16="http://schemas.microsoft.com/office/drawing/2014/main" id="{17F836BA-F6A5-9DD1-77FF-CE44021E0C9B}"/>
              </a:ext>
            </a:extLst>
          </p:cNvPr>
          <p:cNvGrpSpPr/>
          <p:nvPr/>
        </p:nvGrpSpPr>
        <p:grpSpPr>
          <a:xfrm>
            <a:off x="228601" y="2232349"/>
            <a:ext cx="7848599" cy="7422926"/>
            <a:chOff x="0" y="0"/>
            <a:chExt cx="1418473" cy="1692619"/>
          </a:xfrm>
        </p:grpSpPr>
        <p:sp>
          <p:nvSpPr>
            <p:cNvPr id="13" name="Freeform 3">
              <a:extLst>
                <a:ext uri="{FF2B5EF4-FFF2-40B4-BE49-F238E27FC236}">
                  <a16:creationId xmlns:a16="http://schemas.microsoft.com/office/drawing/2014/main" id="{085B39F4-A9E5-6E2C-4A7E-2D1BAD284354}"/>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14" name="TextBox 4">
              <a:extLst>
                <a:ext uri="{FF2B5EF4-FFF2-40B4-BE49-F238E27FC236}">
                  <a16:creationId xmlns:a16="http://schemas.microsoft.com/office/drawing/2014/main" id="{BC3E1F35-10BC-0A17-6A4B-965C85003493}"/>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pic>
        <p:nvPicPr>
          <p:cNvPr id="7" name="Picture 6" descr="A white screen shot of a white sheet&#10;&#10;AI-generated content may be incorrect.">
            <a:extLst>
              <a:ext uri="{FF2B5EF4-FFF2-40B4-BE49-F238E27FC236}">
                <a16:creationId xmlns:a16="http://schemas.microsoft.com/office/drawing/2014/main" id="{A8214190-3CAC-9AF9-B1D2-81DB57557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742" y="2547657"/>
            <a:ext cx="7334458" cy="7069518"/>
          </a:xfrm>
          <a:prstGeom prst="rect">
            <a:avLst/>
          </a:prstGeom>
        </p:spPr>
      </p:pic>
      <p:grpSp>
        <p:nvGrpSpPr>
          <p:cNvPr id="9" name="Group 2">
            <a:extLst>
              <a:ext uri="{FF2B5EF4-FFF2-40B4-BE49-F238E27FC236}">
                <a16:creationId xmlns:a16="http://schemas.microsoft.com/office/drawing/2014/main" id="{583BDEE6-FBB3-29D5-FB17-319C5D8FCEC1}"/>
              </a:ext>
            </a:extLst>
          </p:cNvPr>
          <p:cNvGrpSpPr/>
          <p:nvPr/>
        </p:nvGrpSpPr>
        <p:grpSpPr>
          <a:xfrm>
            <a:off x="9829800" y="2232349"/>
            <a:ext cx="8096458" cy="7422926"/>
            <a:chOff x="0" y="0"/>
            <a:chExt cx="1418473" cy="1692619"/>
          </a:xfrm>
        </p:grpSpPr>
        <p:sp>
          <p:nvSpPr>
            <p:cNvPr id="10" name="Freeform 3">
              <a:extLst>
                <a:ext uri="{FF2B5EF4-FFF2-40B4-BE49-F238E27FC236}">
                  <a16:creationId xmlns:a16="http://schemas.microsoft.com/office/drawing/2014/main" id="{D366101B-050D-6386-A7EF-05837D599813}"/>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15" name="TextBox 4">
              <a:extLst>
                <a:ext uri="{FF2B5EF4-FFF2-40B4-BE49-F238E27FC236}">
                  <a16:creationId xmlns:a16="http://schemas.microsoft.com/office/drawing/2014/main" id="{3B6C748C-68D5-5D31-7774-D750E2796460}"/>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pic>
        <p:nvPicPr>
          <p:cNvPr id="21" name="Picture 20" descr="A screenshot of a computer&#10;&#10;AI-generated content may be incorrect.">
            <a:extLst>
              <a:ext uri="{FF2B5EF4-FFF2-40B4-BE49-F238E27FC236}">
                <a16:creationId xmlns:a16="http://schemas.microsoft.com/office/drawing/2014/main" id="{CF66F08C-0127-0F90-739B-36EFBDCD0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34600" y="2529684"/>
            <a:ext cx="7543800" cy="6881015"/>
          </a:xfrm>
          <a:prstGeom prst="rect">
            <a:avLst/>
          </a:prstGeom>
        </p:spPr>
      </p:pic>
    </p:spTree>
    <p:extLst>
      <p:ext uri="{BB962C8B-B14F-4D97-AF65-F5344CB8AC3E}">
        <p14:creationId xmlns:p14="http://schemas.microsoft.com/office/powerpoint/2010/main" val="1785625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9D0D-BF8D-8A2D-41E7-E749246ED2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E75C18-F215-CB2E-9448-6662E5FEBB75}"/>
              </a:ext>
            </a:extLst>
          </p:cNvPr>
          <p:cNvGrpSpPr/>
          <p:nvPr/>
        </p:nvGrpSpPr>
        <p:grpSpPr>
          <a:xfrm>
            <a:off x="0" y="0"/>
            <a:ext cx="18288000" cy="1943099"/>
            <a:chOff x="0" y="0"/>
            <a:chExt cx="4816593" cy="1079700"/>
          </a:xfrm>
        </p:grpSpPr>
        <p:sp>
          <p:nvSpPr>
            <p:cNvPr id="3" name="Freeform 3">
              <a:extLst>
                <a:ext uri="{FF2B5EF4-FFF2-40B4-BE49-F238E27FC236}">
                  <a16:creationId xmlns:a16="http://schemas.microsoft.com/office/drawing/2014/main" id="{20A7F57E-55F2-9711-5010-092F977C410C}"/>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en-US"/>
            </a:p>
          </p:txBody>
        </p:sp>
        <p:sp>
          <p:nvSpPr>
            <p:cNvPr id="4" name="TextBox 4">
              <a:extLst>
                <a:ext uri="{FF2B5EF4-FFF2-40B4-BE49-F238E27FC236}">
                  <a16:creationId xmlns:a16="http://schemas.microsoft.com/office/drawing/2014/main" id="{497151DD-7B51-5D8A-4283-724A7705E59D}"/>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a:extLst>
              <a:ext uri="{FF2B5EF4-FFF2-40B4-BE49-F238E27FC236}">
                <a16:creationId xmlns:a16="http://schemas.microsoft.com/office/drawing/2014/main" id="{9C591F27-FB46-0D1D-6D5F-2B21A05ACEDA}"/>
              </a:ext>
            </a:extLst>
          </p:cNvPr>
          <p:cNvSpPr txBox="1"/>
          <p:nvPr/>
        </p:nvSpPr>
        <p:spPr>
          <a:xfrm>
            <a:off x="3825171" y="438162"/>
            <a:ext cx="11460042" cy="1045992"/>
          </a:xfrm>
          <a:prstGeom prst="rect">
            <a:avLst/>
          </a:prstGeom>
        </p:spPr>
        <p:txBody>
          <a:bodyPr wrap="square" lIns="0" tIns="0" rIns="0" bIns="0" rtlCol="0" anchor="t">
            <a:spAutoFit/>
          </a:bodyPr>
          <a:lstStyle/>
          <a:p>
            <a:pPr marL="0" lvl="0" indent="0" algn="l">
              <a:lnSpc>
                <a:spcPts val="8959"/>
              </a:lnSpc>
              <a:spcBef>
                <a:spcPct val="0"/>
              </a:spcBef>
            </a:pPr>
            <a:r>
              <a:rPr lang="en-US" sz="6000" b="1" i="1" dirty="0">
                <a:solidFill>
                  <a:srgbClr val="0F4662"/>
                </a:solidFill>
                <a:latin typeface="Times New Roman" panose="02020603050405020304" pitchFamily="18" charset="0"/>
                <a:cs typeface="Times New Roman" panose="02020603050405020304" pitchFamily="18" charset="0"/>
                <a:sym typeface="Cormorant Garamond Bold Italics"/>
              </a:rPr>
              <a:t>Tableau Dashboard</a:t>
            </a:r>
          </a:p>
        </p:txBody>
      </p:sp>
      <p:pic>
        <p:nvPicPr>
          <p:cNvPr id="6" name="Picture 5" descr="A screenshot of a computer screen&#10;&#10;AI-generated content may be incorrect.">
            <a:extLst>
              <a:ext uri="{FF2B5EF4-FFF2-40B4-BE49-F238E27FC236}">
                <a16:creationId xmlns:a16="http://schemas.microsoft.com/office/drawing/2014/main" id="{AFAC6B23-E165-F6BA-9B1B-8A2744E20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2171700"/>
            <a:ext cx="15468600" cy="7467577"/>
          </a:xfrm>
          <a:prstGeom prst="rect">
            <a:avLst/>
          </a:prstGeom>
        </p:spPr>
      </p:pic>
    </p:spTree>
    <p:extLst>
      <p:ext uri="{BB962C8B-B14F-4D97-AF65-F5344CB8AC3E}">
        <p14:creationId xmlns:p14="http://schemas.microsoft.com/office/powerpoint/2010/main" val="2203014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1809" y="1698729"/>
            <a:ext cx="5385764" cy="3901972"/>
            <a:chOff x="0" y="-123825"/>
            <a:chExt cx="1418473" cy="1816444"/>
          </a:xfrm>
        </p:grpSpPr>
        <p:sp>
          <p:nvSpPr>
            <p:cNvPr id="3" name="Freeform 3"/>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4" name="TextBox 4"/>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5" name="Freeform 5"/>
          <p:cNvSpPr/>
          <p:nvPr/>
        </p:nvSpPr>
        <p:spPr>
          <a:xfrm>
            <a:off x="5079423" y="937178"/>
            <a:ext cx="1092682" cy="708128"/>
          </a:xfrm>
          <a:custGeom>
            <a:avLst/>
            <a:gdLst/>
            <a:ahLst/>
            <a:cxnLst/>
            <a:rect l="l" t="t" r="r" b="b"/>
            <a:pathLst>
              <a:path w="2348889" h="2348889">
                <a:moveTo>
                  <a:pt x="0" y="0"/>
                </a:moveTo>
                <a:lnTo>
                  <a:pt x="2348889" y="0"/>
                </a:lnTo>
                <a:lnTo>
                  <a:pt x="2348889" y="2348889"/>
                </a:lnTo>
                <a:lnTo>
                  <a:pt x="0" y="234888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grpSp>
        <p:nvGrpSpPr>
          <p:cNvPr id="6" name="Group 6"/>
          <p:cNvGrpSpPr/>
          <p:nvPr/>
        </p:nvGrpSpPr>
        <p:grpSpPr>
          <a:xfrm>
            <a:off x="6132280" y="1930168"/>
            <a:ext cx="5385764" cy="3670533"/>
            <a:chOff x="0" y="0"/>
            <a:chExt cx="1418473" cy="1692619"/>
          </a:xfrm>
        </p:grpSpPr>
        <p:sp>
          <p:nvSpPr>
            <p:cNvPr id="7" name="Freeform 7"/>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txBody>
            <a:bodyPr/>
            <a:lstStyle/>
            <a:p>
              <a:endParaRPr lang="en-US"/>
            </a:p>
          </p:txBody>
        </p:sp>
        <p:sp>
          <p:nvSpPr>
            <p:cNvPr id="8" name="TextBox 8"/>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grpSp>
        <p:nvGrpSpPr>
          <p:cNvPr id="10" name="Group 10"/>
          <p:cNvGrpSpPr/>
          <p:nvPr/>
        </p:nvGrpSpPr>
        <p:grpSpPr>
          <a:xfrm>
            <a:off x="12015475" y="1930167"/>
            <a:ext cx="5506918" cy="6953192"/>
            <a:chOff x="0" y="-138674"/>
            <a:chExt cx="1450382" cy="1831293"/>
          </a:xfrm>
        </p:grpSpPr>
        <p:sp>
          <p:nvSpPr>
            <p:cNvPr id="11" name="Freeform 11"/>
            <p:cNvSpPr/>
            <p:nvPr/>
          </p:nvSpPr>
          <p:spPr>
            <a:xfrm>
              <a:off x="31909" y="-138674"/>
              <a:ext cx="1418473" cy="966725"/>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dirty="0"/>
            </a:p>
          </p:txBody>
        </p:sp>
        <p:sp>
          <p:nvSpPr>
            <p:cNvPr id="12" name="TextBox 12"/>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14" name="TextBox 14"/>
          <p:cNvSpPr txBox="1"/>
          <p:nvPr/>
        </p:nvSpPr>
        <p:spPr>
          <a:xfrm>
            <a:off x="1028700" y="599709"/>
            <a:ext cx="8115300" cy="1099019"/>
          </a:xfrm>
          <a:prstGeom prst="rect">
            <a:avLst/>
          </a:prstGeom>
        </p:spPr>
        <p:txBody>
          <a:bodyPr lIns="0" tIns="0" rIns="0" bIns="0" rtlCol="0" anchor="t">
            <a:spAutoFit/>
          </a:bodyPr>
          <a:lstStyle/>
          <a:p>
            <a:pPr marL="0" lvl="0" indent="0" algn="l">
              <a:lnSpc>
                <a:spcPts val="8959"/>
              </a:lnSpc>
              <a:spcBef>
                <a:spcPct val="0"/>
              </a:spcBef>
            </a:pPr>
            <a:r>
              <a:rPr lang="en-US" sz="6399" b="1" i="1" dirty="0">
                <a:solidFill>
                  <a:srgbClr val="0F4662"/>
                </a:solidFill>
                <a:latin typeface="Cormorant Garamond Bold Italics"/>
                <a:ea typeface="Cormorant Garamond Bold Italics"/>
                <a:cs typeface="Cormorant Garamond Bold Italics"/>
                <a:sym typeface="Cormorant Garamond Bold Italics"/>
              </a:rPr>
              <a:t>Key Insights</a:t>
            </a:r>
          </a:p>
        </p:txBody>
      </p:sp>
      <p:sp>
        <p:nvSpPr>
          <p:cNvPr id="15" name="TextBox 15"/>
          <p:cNvSpPr txBox="1"/>
          <p:nvPr/>
        </p:nvSpPr>
        <p:spPr>
          <a:xfrm>
            <a:off x="289518" y="3617266"/>
            <a:ext cx="5101887" cy="1527149"/>
          </a:xfrm>
          <a:prstGeom prst="rect">
            <a:avLst/>
          </a:prstGeom>
        </p:spPr>
        <p:txBody>
          <a:bodyPr lIns="0" tIns="0" rIns="0" bIns="0" rtlCol="0" anchor="t">
            <a:spAutoFit/>
          </a:bodyPr>
          <a:lstStyle/>
          <a:p>
            <a:pPr marL="518160" lvl="1" indent="-259080" algn="l">
              <a:lnSpc>
                <a:spcPts val="4079"/>
              </a:lnSpc>
              <a:buFont typeface="Arial"/>
              <a:buChar char="•"/>
            </a:pPr>
            <a:r>
              <a:rPr lang="en-US" sz="2400" i="1" dirty="0">
                <a:solidFill>
                  <a:srgbClr val="0F4662"/>
                </a:solidFill>
                <a:cs typeface="Times New Roman" panose="02020603050405020304" pitchFamily="18" charset="0"/>
              </a:rPr>
              <a:t>Ticket price is influenced by ticket type, class, Arrival destination and trip duration</a:t>
            </a:r>
          </a:p>
        </p:txBody>
      </p:sp>
      <p:sp>
        <p:nvSpPr>
          <p:cNvPr id="16" name="TextBox 16"/>
          <p:cNvSpPr txBox="1"/>
          <p:nvPr/>
        </p:nvSpPr>
        <p:spPr>
          <a:xfrm>
            <a:off x="573719" y="2313672"/>
            <a:ext cx="5101887" cy="968150"/>
          </a:xfrm>
          <a:prstGeom prst="rect">
            <a:avLst/>
          </a:prstGeom>
        </p:spPr>
        <p:txBody>
          <a:bodyPr lIns="0" tIns="0" rIns="0" bIns="0" rtlCol="0" anchor="t">
            <a:spAutoFit/>
          </a:bodyPr>
          <a:lstStyle/>
          <a:p>
            <a:pPr marL="0" lvl="0" indent="0" algn="l">
              <a:lnSpc>
                <a:spcPts val="3919"/>
              </a:lnSpc>
              <a:spcBef>
                <a:spcPct val="0"/>
              </a:spcBef>
            </a:pPr>
            <a:r>
              <a:rPr lang="en-US" sz="3000" b="1" i="1" dirty="0">
                <a:solidFill>
                  <a:srgbClr val="0F4662"/>
                </a:solidFill>
                <a:cs typeface="Times New Roman" panose="02020603050405020304" pitchFamily="18" charset="0"/>
              </a:rPr>
              <a:t>Price Correlates with Travel Factors</a:t>
            </a:r>
            <a:endParaRPr lang="en-US" sz="3000" b="1" i="1" dirty="0">
              <a:solidFill>
                <a:srgbClr val="0F4662"/>
              </a:solidFill>
              <a:cs typeface="Times New Roman" panose="02020603050405020304" pitchFamily="18" charset="0"/>
              <a:sym typeface="Quicksand Bold"/>
            </a:endParaRPr>
          </a:p>
        </p:txBody>
      </p:sp>
      <p:sp>
        <p:nvSpPr>
          <p:cNvPr id="17" name="TextBox 17"/>
          <p:cNvSpPr txBox="1"/>
          <p:nvPr/>
        </p:nvSpPr>
        <p:spPr>
          <a:xfrm>
            <a:off x="6140190" y="3532729"/>
            <a:ext cx="5326638" cy="1525546"/>
          </a:xfrm>
          <a:prstGeom prst="rect">
            <a:avLst/>
          </a:prstGeom>
        </p:spPr>
        <p:txBody>
          <a:bodyPr wrap="square" lIns="0" tIns="0" rIns="0" bIns="0" rtlCol="0" anchor="t">
            <a:spAutoFit/>
          </a:bodyPr>
          <a:lstStyle/>
          <a:p>
            <a:pPr marL="518160" lvl="1" indent="-259080" algn="l">
              <a:lnSpc>
                <a:spcPts val="4079"/>
              </a:lnSpc>
              <a:buFont typeface="Arial"/>
              <a:buChar char="•"/>
            </a:pPr>
            <a:r>
              <a:rPr lang="en-US" sz="2400" i="1" dirty="0">
                <a:solidFill>
                  <a:srgbClr val="0F4662"/>
                </a:solidFill>
                <a:cs typeface="Times New Roman" panose="02020603050405020304" pitchFamily="18" charset="0"/>
              </a:rPr>
              <a:t>Projections (May–Oct 2024) show promising revenue trends if operational consistency is maintained</a:t>
            </a:r>
            <a:r>
              <a:rPr lang="en-US" sz="2400" dirty="0"/>
              <a:t>.</a:t>
            </a:r>
            <a:endParaRPr lang="en-US" sz="2400" dirty="0">
              <a:solidFill>
                <a:srgbClr val="0F4662"/>
              </a:solidFill>
              <a:latin typeface="Quicksand"/>
              <a:ea typeface="Quicksand"/>
              <a:cs typeface="Quicksand"/>
              <a:sym typeface="Quicksand"/>
            </a:endParaRPr>
          </a:p>
        </p:txBody>
      </p:sp>
      <p:sp>
        <p:nvSpPr>
          <p:cNvPr id="18" name="TextBox 18"/>
          <p:cNvSpPr txBox="1"/>
          <p:nvPr/>
        </p:nvSpPr>
        <p:spPr>
          <a:xfrm>
            <a:off x="6416157" y="2223695"/>
            <a:ext cx="5101887" cy="968150"/>
          </a:xfrm>
          <a:prstGeom prst="rect">
            <a:avLst/>
          </a:prstGeom>
        </p:spPr>
        <p:txBody>
          <a:bodyPr lIns="0" tIns="0" rIns="0" bIns="0" rtlCol="0" anchor="t">
            <a:spAutoFit/>
          </a:bodyPr>
          <a:lstStyle/>
          <a:p>
            <a:pPr>
              <a:lnSpc>
                <a:spcPts val="3919"/>
              </a:lnSpc>
              <a:spcBef>
                <a:spcPct val="0"/>
              </a:spcBef>
            </a:pPr>
            <a:r>
              <a:rPr lang="en-US" sz="3000" b="1" i="1" dirty="0">
                <a:solidFill>
                  <a:srgbClr val="0F4662"/>
                </a:solidFill>
                <a:cs typeface="Times New Roman" panose="02020603050405020304" pitchFamily="18" charset="0"/>
              </a:rPr>
              <a:t>Future Revenue Forecasts Indicate Growth Opportunities</a:t>
            </a:r>
            <a:endParaRPr lang="en-US" sz="3000" b="1" i="1" dirty="0">
              <a:solidFill>
                <a:srgbClr val="0F4662"/>
              </a:solidFill>
              <a:cs typeface="Times New Roman" panose="02020603050405020304" pitchFamily="18" charset="0"/>
              <a:sym typeface="Quicksand Bold"/>
            </a:endParaRPr>
          </a:p>
        </p:txBody>
      </p:sp>
      <p:sp>
        <p:nvSpPr>
          <p:cNvPr id="19" name="TextBox 19"/>
          <p:cNvSpPr txBox="1"/>
          <p:nvPr/>
        </p:nvSpPr>
        <p:spPr>
          <a:xfrm>
            <a:off x="12178198" y="2918519"/>
            <a:ext cx="5223041" cy="2578719"/>
          </a:xfrm>
          <a:prstGeom prst="rect">
            <a:avLst/>
          </a:prstGeom>
        </p:spPr>
        <p:txBody>
          <a:bodyPr wrap="square" lIns="0" tIns="0" rIns="0" bIns="0" rtlCol="0" anchor="t">
            <a:spAutoFit/>
          </a:bodyPr>
          <a:lstStyle/>
          <a:p>
            <a:pPr marL="518160" lvl="1" indent="-259080">
              <a:lnSpc>
                <a:spcPts val="4079"/>
              </a:lnSpc>
              <a:buFont typeface="Arial"/>
              <a:buChar char="•"/>
            </a:pPr>
            <a:r>
              <a:rPr lang="en-US" sz="2400" i="1" dirty="0">
                <a:solidFill>
                  <a:srgbClr val="0F4662"/>
                </a:solidFill>
                <a:cs typeface="Times New Roman" panose="02020603050405020304" pitchFamily="18" charset="0"/>
              </a:rPr>
              <a:t>Majority of delays in the dataset are linked to adverse weather conditions .</a:t>
            </a:r>
          </a:p>
          <a:p>
            <a:pPr marL="518160" lvl="1" indent="-259080">
              <a:lnSpc>
                <a:spcPts val="4079"/>
              </a:lnSpc>
              <a:buFont typeface="Arial"/>
              <a:buChar char="•"/>
            </a:pPr>
            <a:r>
              <a:rPr lang="en-US" sz="2400" i="1" dirty="0">
                <a:solidFill>
                  <a:srgbClr val="0F4662"/>
                </a:solidFill>
                <a:cs typeface="Times New Roman" panose="02020603050405020304" pitchFamily="18" charset="0"/>
              </a:rPr>
              <a:t>These delays often cause increasing refund requests and reducing customer satisfaction</a:t>
            </a:r>
            <a:endParaRPr lang="en-US" sz="2400" i="1" dirty="0">
              <a:solidFill>
                <a:srgbClr val="0F4662"/>
              </a:solidFill>
              <a:cs typeface="Times New Roman" panose="02020603050405020304" pitchFamily="18" charset="0"/>
              <a:sym typeface="Quicksand"/>
            </a:endParaRPr>
          </a:p>
        </p:txBody>
      </p:sp>
      <p:sp>
        <p:nvSpPr>
          <p:cNvPr id="20" name="TextBox 20"/>
          <p:cNvSpPr txBox="1"/>
          <p:nvPr/>
        </p:nvSpPr>
        <p:spPr>
          <a:xfrm>
            <a:off x="12299352" y="2151843"/>
            <a:ext cx="5101887" cy="476669"/>
          </a:xfrm>
          <a:prstGeom prst="rect">
            <a:avLst/>
          </a:prstGeom>
        </p:spPr>
        <p:txBody>
          <a:bodyPr lIns="0" tIns="0" rIns="0" bIns="0" rtlCol="0" anchor="t">
            <a:spAutoFit/>
          </a:bodyPr>
          <a:lstStyle/>
          <a:p>
            <a:pPr lvl="0" indent="0">
              <a:lnSpc>
                <a:spcPts val="3919"/>
              </a:lnSpc>
              <a:spcBef>
                <a:spcPct val="0"/>
              </a:spcBef>
            </a:pPr>
            <a:r>
              <a:rPr lang="en-US" sz="3000" b="1" i="1" dirty="0">
                <a:solidFill>
                  <a:srgbClr val="0F4662"/>
                </a:solidFill>
                <a:cs typeface="Times New Roman" panose="02020603050405020304" pitchFamily="18" charset="0"/>
              </a:rPr>
              <a:t>Leading Cause of Train Delays</a:t>
            </a:r>
            <a:endParaRPr lang="en-US" sz="3000" b="1" i="1" dirty="0">
              <a:solidFill>
                <a:srgbClr val="0F4662"/>
              </a:solidFill>
              <a:cs typeface="Times New Roman" panose="02020603050405020304" pitchFamily="18" charset="0"/>
              <a:sym typeface="Quicksand Bold"/>
            </a:endParaRPr>
          </a:p>
        </p:txBody>
      </p:sp>
      <p:sp>
        <p:nvSpPr>
          <p:cNvPr id="21" name="AutoShape 21"/>
          <p:cNvSpPr/>
          <p:nvPr/>
        </p:nvSpPr>
        <p:spPr>
          <a:xfrm>
            <a:off x="10767060" y="990600"/>
            <a:ext cx="6492240" cy="0"/>
          </a:xfrm>
          <a:prstGeom prst="line">
            <a:avLst/>
          </a:prstGeom>
          <a:ln w="76200" cap="flat">
            <a:solidFill>
              <a:srgbClr val="0F4662"/>
            </a:solidFill>
            <a:prstDash val="solid"/>
            <a:headEnd type="none" w="sm" len="sm"/>
            <a:tailEnd type="none" w="sm" len="sm"/>
          </a:ln>
        </p:spPr>
        <p:txBody>
          <a:bodyPr/>
          <a:lstStyle/>
          <a:p>
            <a:endParaRPr lang="en-US"/>
          </a:p>
        </p:txBody>
      </p:sp>
      <p:grpSp>
        <p:nvGrpSpPr>
          <p:cNvPr id="25" name="Group 6">
            <a:extLst>
              <a:ext uri="{FF2B5EF4-FFF2-40B4-BE49-F238E27FC236}">
                <a16:creationId xmlns:a16="http://schemas.microsoft.com/office/drawing/2014/main" id="{19332DCD-2EE9-FB18-FE73-84B25FF68380}"/>
              </a:ext>
            </a:extLst>
          </p:cNvPr>
          <p:cNvGrpSpPr/>
          <p:nvPr/>
        </p:nvGrpSpPr>
        <p:grpSpPr>
          <a:xfrm>
            <a:off x="261809" y="6069174"/>
            <a:ext cx="5385764" cy="3670533"/>
            <a:chOff x="0" y="0"/>
            <a:chExt cx="1418473" cy="1692619"/>
          </a:xfrm>
        </p:grpSpPr>
        <p:sp>
          <p:nvSpPr>
            <p:cNvPr id="26" name="Freeform 7">
              <a:extLst>
                <a:ext uri="{FF2B5EF4-FFF2-40B4-BE49-F238E27FC236}">
                  <a16:creationId xmlns:a16="http://schemas.microsoft.com/office/drawing/2014/main" id="{42001F4D-2A28-1A01-BA51-48EB2059D9C9}"/>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txBody>
            <a:bodyPr/>
            <a:lstStyle/>
            <a:p>
              <a:endParaRPr lang="en-US"/>
            </a:p>
          </p:txBody>
        </p:sp>
        <p:sp>
          <p:nvSpPr>
            <p:cNvPr id="27" name="TextBox 8">
              <a:extLst>
                <a:ext uri="{FF2B5EF4-FFF2-40B4-BE49-F238E27FC236}">
                  <a16:creationId xmlns:a16="http://schemas.microsoft.com/office/drawing/2014/main" id="{B6E77910-1B02-33AA-65EA-D99D7D1EB8CE}"/>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grpSp>
        <p:nvGrpSpPr>
          <p:cNvPr id="28" name="Group 2">
            <a:extLst>
              <a:ext uri="{FF2B5EF4-FFF2-40B4-BE49-F238E27FC236}">
                <a16:creationId xmlns:a16="http://schemas.microsoft.com/office/drawing/2014/main" id="{36E7EC24-C5A2-8E2D-3A08-537874D57B49}"/>
              </a:ext>
            </a:extLst>
          </p:cNvPr>
          <p:cNvGrpSpPr/>
          <p:nvPr/>
        </p:nvGrpSpPr>
        <p:grpSpPr>
          <a:xfrm>
            <a:off x="6172105" y="5812104"/>
            <a:ext cx="5385764" cy="3901972"/>
            <a:chOff x="0" y="-123825"/>
            <a:chExt cx="1418473" cy="1816444"/>
          </a:xfrm>
        </p:grpSpPr>
        <p:sp>
          <p:nvSpPr>
            <p:cNvPr id="29" name="Freeform 3">
              <a:extLst>
                <a:ext uri="{FF2B5EF4-FFF2-40B4-BE49-F238E27FC236}">
                  <a16:creationId xmlns:a16="http://schemas.microsoft.com/office/drawing/2014/main" id="{7CC9E75E-CF1E-6952-7F83-FF221CD9390C}"/>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txBody>
            <a:bodyPr/>
            <a:lstStyle/>
            <a:p>
              <a:endParaRPr lang="en-US"/>
            </a:p>
          </p:txBody>
        </p:sp>
        <p:sp>
          <p:nvSpPr>
            <p:cNvPr id="30" name="TextBox 4">
              <a:extLst>
                <a:ext uri="{FF2B5EF4-FFF2-40B4-BE49-F238E27FC236}">
                  <a16:creationId xmlns:a16="http://schemas.microsoft.com/office/drawing/2014/main" id="{C28B0CDF-2959-8A8A-1453-88DCD13FD6D3}"/>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grpSp>
        <p:nvGrpSpPr>
          <p:cNvPr id="31" name="Group 6">
            <a:extLst>
              <a:ext uri="{FF2B5EF4-FFF2-40B4-BE49-F238E27FC236}">
                <a16:creationId xmlns:a16="http://schemas.microsoft.com/office/drawing/2014/main" id="{8D57B3D6-1E26-6A85-5CD6-A824A38B49D1}"/>
              </a:ext>
            </a:extLst>
          </p:cNvPr>
          <p:cNvGrpSpPr/>
          <p:nvPr/>
        </p:nvGrpSpPr>
        <p:grpSpPr>
          <a:xfrm>
            <a:off x="12015475" y="6069174"/>
            <a:ext cx="5385764" cy="3670533"/>
            <a:chOff x="0" y="0"/>
            <a:chExt cx="1418473" cy="1692619"/>
          </a:xfrm>
        </p:grpSpPr>
        <p:sp>
          <p:nvSpPr>
            <p:cNvPr id="32" name="Freeform 7">
              <a:extLst>
                <a:ext uri="{FF2B5EF4-FFF2-40B4-BE49-F238E27FC236}">
                  <a16:creationId xmlns:a16="http://schemas.microsoft.com/office/drawing/2014/main" id="{362049B0-A211-4F72-FEB3-60FEB86C224E}"/>
                </a:ext>
              </a:extLst>
            </p:cNvPr>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txBody>
            <a:bodyPr/>
            <a:lstStyle/>
            <a:p>
              <a:endParaRPr lang="en-US"/>
            </a:p>
          </p:txBody>
        </p:sp>
        <p:sp>
          <p:nvSpPr>
            <p:cNvPr id="33" name="TextBox 8">
              <a:extLst>
                <a:ext uri="{FF2B5EF4-FFF2-40B4-BE49-F238E27FC236}">
                  <a16:creationId xmlns:a16="http://schemas.microsoft.com/office/drawing/2014/main" id="{7D288327-92C6-B300-9DC2-9FDFD266245F}"/>
                </a:ext>
              </a:extLst>
            </p:cNvPr>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35" name="TextBox 34">
            <a:extLst>
              <a:ext uri="{FF2B5EF4-FFF2-40B4-BE49-F238E27FC236}">
                <a16:creationId xmlns:a16="http://schemas.microsoft.com/office/drawing/2014/main" id="{21754F2D-EBED-9628-909F-81093BA75DAC}"/>
              </a:ext>
            </a:extLst>
          </p:cNvPr>
          <p:cNvSpPr txBox="1"/>
          <p:nvPr/>
        </p:nvSpPr>
        <p:spPr>
          <a:xfrm>
            <a:off x="573719" y="6481368"/>
            <a:ext cx="4505704" cy="553998"/>
          </a:xfrm>
          <a:prstGeom prst="rect">
            <a:avLst/>
          </a:prstGeom>
          <a:noFill/>
        </p:spPr>
        <p:txBody>
          <a:bodyPr wrap="square">
            <a:spAutoFit/>
          </a:bodyPr>
          <a:lstStyle/>
          <a:p>
            <a:r>
              <a:rPr lang="en-US" sz="3000" b="1" i="1" dirty="0">
                <a:solidFill>
                  <a:srgbClr val="0F4662"/>
                </a:solidFill>
                <a:cs typeface="Times New Roman" panose="02020603050405020304" pitchFamily="18" charset="0"/>
              </a:rPr>
              <a:t>Peak Departure Hours: </a:t>
            </a:r>
          </a:p>
        </p:txBody>
      </p:sp>
      <p:sp>
        <p:nvSpPr>
          <p:cNvPr id="37" name="TextBox 36">
            <a:extLst>
              <a:ext uri="{FF2B5EF4-FFF2-40B4-BE49-F238E27FC236}">
                <a16:creationId xmlns:a16="http://schemas.microsoft.com/office/drawing/2014/main" id="{A87462E9-F510-835C-10B1-9993466E1863}"/>
              </a:ext>
            </a:extLst>
          </p:cNvPr>
          <p:cNvSpPr txBox="1"/>
          <p:nvPr/>
        </p:nvSpPr>
        <p:spPr>
          <a:xfrm>
            <a:off x="573719" y="7447559"/>
            <a:ext cx="4150681" cy="1569660"/>
          </a:xfrm>
          <a:prstGeom prst="rect">
            <a:avLst/>
          </a:prstGeom>
          <a:noFill/>
        </p:spPr>
        <p:txBody>
          <a:bodyPr wrap="square">
            <a:spAutoFit/>
          </a:bodyPr>
          <a:lstStyle/>
          <a:p>
            <a:pPr marL="342900" indent="-342900">
              <a:buFont typeface="Arial" panose="020B0604020202020204" pitchFamily="34" charset="0"/>
              <a:buChar char="•"/>
            </a:pPr>
            <a:r>
              <a:rPr lang="en-US" sz="2400" i="1" dirty="0">
                <a:solidFill>
                  <a:srgbClr val="0F4662"/>
                </a:solidFill>
                <a:cs typeface="Times New Roman" panose="02020603050405020304" pitchFamily="18" charset="0"/>
              </a:rPr>
              <a:t>Traffic tends to be most congested around 6:8 AM and then again from 5:7 PM onward.</a:t>
            </a:r>
          </a:p>
        </p:txBody>
      </p:sp>
      <p:sp>
        <p:nvSpPr>
          <p:cNvPr id="41" name="TextBox 40">
            <a:extLst>
              <a:ext uri="{FF2B5EF4-FFF2-40B4-BE49-F238E27FC236}">
                <a16:creationId xmlns:a16="http://schemas.microsoft.com/office/drawing/2014/main" id="{E1D0D8FB-0D20-F499-15B9-53F5047FBAB7}"/>
              </a:ext>
            </a:extLst>
          </p:cNvPr>
          <p:cNvSpPr txBox="1"/>
          <p:nvPr/>
        </p:nvSpPr>
        <p:spPr>
          <a:xfrm>
            <a:off x="6416157" y="6454268"/>
            <a:ext cx="5031168" cy="553998"/>
          </a:xfrm>
          <a:prstGeom prst="rect">
            <a:avLst/>
          </a:prstGeom>
          <a:noFill/>
        </p:spPr>
        <p:txBody>
          <a:bodyPr wrap="square">
            <a:spAutoFit/>
          </a:bodyPr>
          <a:lstStyle/>
          <a:p>
            <a:r>
              <a:rPr lang="en-US" sz="3000" b="1" i="1" dirty="0">
                <a:solidFill>
                  <a:srgbClr val="0F4662"/>
                </a:solidFill>
                <a:cs typeface="Times New Roman" panose="02020603050405020304" pitchFamily="18" charset="0"/>
              </a:rPr>
              <a:t>Punctuality of UK Train Rides</a:t>
            </a:r>
          </a:p>
        </p:txBody>
      </p:sp>
      <p:sp>
        <p:nvSpPr>
          <p:cNvPr id="43" name="TextBox 42">
            <a:extLst>
              <a:ext uri="{FF2B5EF4-FFF2-40B4-BE49-F238E27FC236}">
                <a16:creationId xmlns:a16="http://schemas.microsoft.com/office/drawing/2014/main" id="{08A15EDC-A6AB-1477-D184-EA5E03F5369A}"/>
              </a:ext>
            </a:extLst>
          </p:cNvPr>
          <p:cNvSpPr txBox="1"/>
          <p:nvPr/>
        </p:nvSpPr>
        <p:spPr>
          <a:xfrm>
            <a:off x="6416157" y="7647806"/>
            <a:ext cx="5031168" cy="830997"/>
          </a:xfrm>
          <a:prstGeom prst="rect">
            <a:avLst/>
          </a:prstGeom>
          <a:noFill/>
        </p:spPr>
        <p:txBody>
          <a:bodyPr wrap="square">
            <a:spAutoFit/>
          </a:bodyPr>
          <a:lstStyle/>
          <a:p>
            <a:pPr marL="342900" indent="-342900">
              <a:buFont typeface="Arial" panose="020B0604020202020204" pitchFamily="34" charset="0"/>
              <a:buChar char="•"/>
            </a:pPr>
            <a:r>
              <a:rPr lang="en-US" sz="2400" i="1" dirty="0">
                <a:solidFill>
                  <a:srgbClr val="0F4662"/>
                </a:solidFill>
                <a:cs typeface="Times New Roman" panose="02020603050405020304" pitchFamily="18" charset="0"/>
              </a:rPr>
              <a:t>Around 87% of train rides arrive on time, while 13% experience delays.</a:t>
            </a:r>
          </a:p>
        </p:txBody>
      </p:sp>
      <p:sp>
        <p:nvSpPr>
          <p:cNvPr id="45" name="TextBox 44">
            <a:extLst>
              <a:ext uri="{FF2B5EF4-FFF2-40B4-BE49-F238E27FC236}">
                <a16:creationId xmlns:a16="http://schemas.microsoft.com/office/drawing/2014/main" id="{FBF4CFD2-5A0F-B1B2-CC23-D2712EEB77F6}"/>
              </a:ext>
            </a:extLst>
          </p:cNvPr>
          <p:cNvSpPr txBox="1"/>
          <p:nvPr/>
        </p:nvSpPr>
        <p:spPr>
          <a:xfrm>
            <a:off x="12043184" y="6596648"/>
            <a:ext cx="4873216" cy="553998"/>
          </a:xfrm>
          <a:prstGeom prst="rect">
            <a:avLst/>
          </a:prstGeom>
          <a:noFill/>
        </p:spPr>
        <p:txBody>
          <a:bodyPr wrap="square">
            <a:spAutoFit/>
          </a:bodyPr>
          <a:lstStyle/>
          <a:p>
            <a:r>
              <a:rPr lang="en-US" sz="3000" b="1" i="1" dirty="0">
                <a:solidFill>
                  <a:srgbClr val="0F4662"/>
                </a:solidFill>
                <a:cs typeface="Times New Roman" panose="02020603050405020304" pitchFamily="18" charset="0"/>
              </a:rPr>
              <a:t>Payment Methods Used</a:t>
            </a:r>
          </a:p>
        </p:txBody>
      </p:sp>
      <p:sp>
        <p:nvSpPr>
          <p:cNvPr id="48" name="TextBox 47">
            <a:extLst>
              <a:ext uri="{FF2B5EF4-FFF2-40B4-BE49-F238E27FC236}">
                <a16:creationId xmlns:a16="http://schemas.microsoft.com/office/drawing/2014/main" id="{11C0F1C4-CAAF-488B-4B9F-49B0AE8D45C2}"/>
              </a:ext>
            </a:extLst>
          </p:cNvPr>
          <p:cNvSpPr txBox="1"/>
          <p:nvPr/>
        </p:nvSpPr>
        <p:spPr>
          <a:xfrm>
            <a:off x="12015475" y="7370079"/>
            <a:ext cx="5557345" cy="1569660"/>
          </a:xfrm>
          <a:prstGeom prst="rect">
            <a:avLst/>
          </a:prstGeom>
          <a:noFill/>
        </p:spPr>
        <p:txBody>
          <a:bodyPr wrap="square">
            <a:spAutoFit/>
          </a:bodyPr>
          <a:lstStyle/>
          <a:p>
            <a:pPr marL="342900" indent="-342900">
              <a:buFont typeface="Arial" panose="020B0604020202020204" pitchFamily="34" charset="0"/>
              <a:buChar char="•"/>
            </a:pPr>
            <a:r>
              <a:rPr lang="en-US" sz="2400" i="1" dirty="0">
                <a:solidFill>
                  <a:srgbClr val="0F4662"/>
                </a:solidFill>
                <a:cs typeface="Times New Roman" panose="02020603050405020304" pitchFamily="18" charset="0"/>
              </a:rPr>
              <a:t>The most common payment method is Credit Card, used by 60% of passengers.</a:t>
            </a:r>
          </a:p>
          <a:p>
            <a:pPr marL="342900" indent="-342900">
              <a:buFont typeface="Arial" panose="020B0604020202020204" pitchFamily="34" charset="0"/>
              <a:buChar char="•"/>
            </a:pPr>
            <a:r>
              <a:rPr lang="en-US" sz="2400" i="1" dirty="0">
                <a:solidFill>
                  <a:srgbClr val="0F4662"/>
                </a:solidFill>
                <a:cs typeface="Times New Roman" panose="02020603050405020304" pitchFamily="18" charset="0"/>
              </a:rPr>
              <a:t>Other Methods: Contactless by 34% ,Debit Crad by 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579BD-1BEB-8654-17F3-ECAC0F792439}"/>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F02E5BD-A459-2948-D62C-F670924B3841}"/>
              </a:ext>
            </a:extLst>
          </p:cNvPr>
          <p:cNvSpPr txBox="1"/>
          <p:nvPr/>
        </p:nvSpPr>
        <p:spPr>
          <a:xfrm>
            <a:off x="1043764" y="2478342"/>
            <a:ext cx="16229942" cy="2938305"/>
          </a:xfrm>
          <a:prstGeom prst="rect">
            <a:avLst/>
          </a:prstGeom>
        </p:spPr>
        <p:txBody>
          <a:bodyPr lIns="0" tIns="0" rIns="0" bIns="0" rtlCol="0" anchor="t">
            <a:spAutoFit/>
          </a:bodyPr>
          <a:lstStyle/>
          <a:p>
            <a:pPr marL="0" lvl="0" indent="0" algn="ctr">
              <a:lnSpc>
                <a:spcPts val="26009"/>
              </a:lnSpc>
              <a:spcBef>
                <a:spcPct val="0"/>
              </a:spcBef>
            </a:pPr>
            <a:r>
              <a:rPr lang="en-US" sz="12000" b="1" i="1" dirty="0">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a:extLst>
              <a:ext uri="{FF2B5EF4-FFF2-40B4-BE49-F238E27FC236}">
                <a16:creationId xmlns:a16="http://schemas.microsoft.com/office/drawing/2014/main" id="{0D6B7826-E5BF-9807-E62D-5AC5CEF7C71B}"/>
              </a:ext>
            </a:extLst>
          </p:cNvPr>
          <p:cNvSpPr/>
          <p:nvPr/>
        </p:nvSpPr>
        <p:spPr>
          <a:xfrm>
            <a:off x="9158735" y="9906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AutoShape 4">
            <a:extLst>
              <a:ext uri="{FF2B5EF4-FFF2-40B4-BE49-F238E27FC236}">
                <a16:creationId xmlns:a16="http://schemas.microsoft.com/office/drawing/2014/main" id="{C8D6A241-81E8-E332-4067-BB7F7A3810FA}"/>
              </a:ext>
            </a:extLst>
          </p:cNvPr>
          <p:cNvSpPr/>
          <p:nvPr/>
        </p:nvSpPr>
        <p:spPr>
          <a:xfrm>
            <a:off x="1043764" y="92964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5" name="Freeform 5">
            <a:extLst>
              <a:ext uri="{FF2B5EF4-FFF2-40B4-BE49-F238E27FC236}">
                <a16:creationId xmlns:a16="http://schemas.microsoft.com/office/drawing/2014/main" id="{4D56D56B-6700-2A04-2D36-323A53F56654}"/>
              </a:ext>
            </a:extLst>
          </p:cNvPr>
          <p:cNvSpPr/>
          <p:nvPr/>
        </p:nvSpPr>
        <p:spPr>
          <a:xfrm>
            <a:off x="9618706" y="90374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907C10B6-7372-3E89-3631-013B7E8322F7}"/>
              </a:ext>
            </a:extLst>
          </p:cNvPr>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extLst>
      <p:ext uri="{BB962C8B-B14F-4D97-AF65-F5344CB8AC3E}">
        <p14:creationId xmlns:p14="http://schemas.microsoft.com/office/powerpoint/2010/main" val="2700520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286</TotalTime>
  <Words>766</Words>
  <Application>Microsoft Office PowerPoint</Application>
  <PresentationFormat>Custom</PresentationFormat>
  <Paragraphs>116</Paragraphs>
  <Slides>26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Times New Roman</vt:lpstr>
      <vt:lpstr>Arial</vt:lpstr>
      <vt:lpstr>Calibri</vt:lpstr>
      <vt:lpstr>Quicksand</vt:lpstr>
      <vt:lpstr>Aptos</vt:lpstr>
      <vt:lpstr>Cormorant Garamond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Enhancing Sales Strategy Presentation</dc:title>
  <cp:lastModifiedBy>basmala tharwat saad</cp:lastModifiedBy>
  <cp:revision>89</cp:revision>
  <dcterms:created xsi:type="dcterms:W3CDTF">2006-08-16T00:00:00Z</dcterms:created>
  <dcterms:modified xsi:type="dcterms:W3CDTF">2025-05-16T20:39:19Z</dcterms:modified>
  <dc:identifier>DAGnQ5EI1j4</dc:identifier>
</cp:coreProperties>
</file>